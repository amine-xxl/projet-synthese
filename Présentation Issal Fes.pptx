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4" r:id="rId11"/>
    <p:sldId id="265" r:id="rId12"/>
    <p:sldId id="266" r:id="rId13"/>
    <p:sldId id="267" r:id="rId1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62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0" i="0">
                <a:solidFill>
                  <a:srgbClr val="1F1F1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00" b="0" i="0">
                <a:solidFill>
                  <a:srgbClr val="00527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1F1F1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900" b="0" i="0">
                <a:solidFill>
                  <a:srgbClr val="00527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1F1F1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1F1F1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72507" y="834132"/>
            <a:ext cx="9847580" cy="1007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0" i="0">
                <a:solidFill>
                  <a:srgbClr val="1F1F1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8878" y="3614152"/>
            <a:ext cx="8578850" cy="52425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00" b="0" i="0">
                <a:solidFill>
                  <a:srgbClr val="00527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58554" y="4233243"/>
            <a:ext cx="5460365" cy="289502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300" spc="135" dirty="0" err="1">
                <a:solidFill>
                  <a:srgbClr val="004F87"/>
                </a:solidFill>
                <a:latin typeface="Arial MT"/>
                <a:cs typeface="Arial MT"/>
              </a:rPr>
              <a:t>Iss</a:t>
            </a:r>
            <a:r>
              <a:rPr lang="fr-FR" sz="11300" spc="135" dirty="0">
                <a:solidFill>
                  <a:srgbClr val="004F87"/>
                </a:solidFill>
                <a:latin typeface="Arial MT"/>
                <a:cs typeface="Arial MT"/>
              </a:rPr>
              <a:t>a</a:t>
            </a:r>
            <a:r>
              <a:rPr sz="11300" spc="135" dirty="0">
                <a:solidFill>
                  <a:srgbClr val="004F87"/>
                </a:solidFill>
                <a:latin typeface="Arial MT"/>
                <a:cs typeface="Arial MT"/>
              </a:rPr>
              <a:t>l</a:t>
            </a:r>
            <a:r>
              <a:rPr sz="11300" spc="-1170" dirty="0">
                <a:solidFill>
                  <a:srgbClr val="004F87"/>
                </a:solidFill>
                <a:latin typeface="Arial MT"/>
                <a:cs typeface="Arial MT"/>
              </a:rPr>
              <a:t> </a:t>
            </a:r>
            <a:r>
              <a:rPr sz="11300" spc="-720" dirty="0">
                <a:solidFill>
                  <a:srgbClr val="005089"/>
                </a:solidFill>
                <a:latin typeface="Arial MT"/>
                <a:cs typeface="Arial MT"/>
              </a:rPr>
              <a:t>F</a:t>
            </a:r>
            <a:r>
              <a:rPr lang="fr-FR" sz="11300" spc="-720" dirty="0">
                <a:solidFill>
                  <a:srgbClr val="005089"/>
                </a:solidFill>
                <a:latin typeface="Arial MT"/>
                <a:cs typeface="Arial MT"/>
              </a:rPr>
              <a:t>e</a:t>
            </a:r>
            <a:r>
              <a:rPr sz="11300" spc="-720" dirty="0">
                <a:solidFill>
                  <a:srgbClr val="005089"/>
                </a:solidFill>
                <a:latin typeface="Arial MT"/>
                <a:cs typeface="Arial MT"/>
              </a:rPr>
              <a:t>s</a:t>
            </a:r>
            <a:endParaRPr sz="11300" dirty="0">
              <a:latin typeface="Arial MT"/>
              <a:cs typeface="Arial MT"/>
            </a:endParaRPr>
          </a:p>
          <a:p>
            <a:pPr marL="258445" algn="ctr">
              <a:lnSpc>
                <a:spcPct val="100000"/>
              </a:lnSpc>
              <a:spcBef>
                <a:spcPts val="2400"/>
              </a:spcBef>
            </a:pPr>
            <a:r>
              <a:rPr sz="2700" spc="-30" dirty="0">
                <a:solidFill>
                  <a:srgbClr val="444444"/>
                </a:solidFill>
              </a:rPr>
              <a:t>Application</a:t>
            </a:r>
            <a:r>
              <a:rPr sz="2700" spc="-100" dirty="0">
                <a:solidFill>
                  <a:srgbClr val="444444"/>
                </a:solidFill>
              </a:rPr>
              <a:t> </a:t>
            </a:r>
            <a:r>
              <a:rPr sz="2700" spc="-25" dirty="0">
                <a:solidFill>
                  <a:srgbClr val="494949"/>
                </a:solidFill>
              </a:rPr>
              <a:t>Web</a:t>
            </a:r>
            <a:r>
              <a:rPr sz="2700" spc="-150" dirty="0">
                <a:solidFill>
                  <a:srgbClr val="494949"/>
                </a:solidFill>
              </a:rPr>
              <a:t> </a:t>
            </a:r>
            <a:r>
              <a:rPr sz="2700" spc="-25" dirty="0">
                <a:solidFill>
                  <a:srgbClr val="4D4D4D"/>
                </a:solidFill>
              </a:rPr>
              <a:t>de</a:t>
            </a:r>
            <a:r>
              <a:rPr sz="2700" spc="-215" dirty="0">
                <a:solidFill>
                  <a:srgbClr val="4D4D4D"/>
                </a:solidFill>
              </a:rPr>
              <a:t> </a:t>
            </a:r>
            <a:r>
              <a:rPr sz="2700" spc="-30" dirty="0">
                <a:solidFill>
                  <a:srgbClr val="464646"/>
                </a:solidFill>
              </a:rPr>
              <a:t>Transport</a:t>
            </a:r>
            <a:r>
              <a:rPr sz="2700" spc="-60" dirty="0">
                <a:solidFill>
                  <a:srgbClr val="464646"/>
                </a:solidFill>
              </a:rPr>
              <a:t> </a:t>
            </a:r>
            <a:r>
              <a:rPr sz="2700" spc="-10" dirty="0" err="1">
                <a:solidFill>
                  <a:srgbClr val="484848"/>
                </a:solidFill>
              </a:rPr>
              <a:t>Urbain</a:t>
            </a:r>
            <a:r>
              <a:rPr lang="fr-FR" sz="2700" spc="-10" dirty="0">
                <a:solidFill>
                  <a:srgbClr val="484848"/>
                </a:solidFill>
              </a:rPr>
              <a:t> et ses infos</a:t>
            </a:r>
            <a:endParaRPr sz="2700" dirty="0"/>
          </a:p>
        </p:txBody>
      </p:sp>
      <p:sp>
        <p:nvSpPr>
          <p:cNvPr id="3" name="object 3"/>
          <p:cNvSpPr txBox="1"/>
          <p:nvPr/>
        </p:nvSpPr>
        <p:spPr>
          <a:xfrm>
            <a:off x="7129757" y="7725284"/>
            <a:ext cx="5837555" cy="11531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2550" spc="70" dirty="0">
                <a:solidFill>
                  <a:srgbClr val="4B4B4B"/>
                </a:solidFill>
                <a:latin typeface="Calibri"/>
                <a:cs typeface="Calibri"/>
              </a:rPr>
              <a:t>Rhazi</a:t>
            </a:r>
            <a:r>
              <a:rPr sz="2550" spc="-114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550" spc="70" dirty="0">
                <a:solidFill>
                  <a:srgbClr val="464646"/>
                </a:solidFill>
                <a:latin typeface="Calibri"/>
                <a:cs typeface="Calibri"/>
              </a:rPr>
              <a:t>Mohammed-</a:t>
            </a:r>
            <a:r>
              <a:rPr sz="2550" spc="60" dirty="0">
                <a:solidFill>
                  <a:srgbClr val="464646"/>
                </a:solidFill>
                <a:latin typeface="Calibri"/>
                <a:cs typeface="Calibri"/>
              </a:rPr>
              <a:t>Amine</a:t>
            </a:r>
            <a:r>
              <a:rPr sz="2550" spc="-229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550" spc="155" dirty="0">
                <a:solidFill>
                  <a:srgbClr val="465677"/>
                </a:solidFill>
                <a:latin typeface="Calibri"/>
                <a:cs typeface="Calibri"/>
              </a:rPr>
              <a:t>&amp;</a:t>
            </a:r>
            <a:r>
              <a:rPr sz="2550" spc="-190" dirty="0">
                <a:solidFill>
                  <a:srgbClr val="465677"/>
                </a:solidFill>
                <a:latin typeface="Calibri"/>
                <a:cs typeface="Calibri"/>
              </a:rPr>
              <a:t> </a:t>
            </a:r>
            <a:r>
              <a:rPr sz="2550" spc="45" dirty="0">
                <a:solidFill>
                  <a:srgbClr val="3F546B"/>
                </a:solidFill>
                <a:latin typeface="Calibri"/>
                <a:cs typeface="Calibri"/>
              </a:rPr>
              <a:t>Semlali</a:t>
            </a:r>
            <a:r>
              <a:rPr sz="2550" spc="-114" dirty="0">
                <a:solidFill>
                  <a:srgbClr val="3F546B"/>
                </a:solidFill>
                <a:latin typeface="Calibri"/>
                <a:cs typeface="Calibri"/>
              </a:rPr>
              <a:t> </a:t>
            </a:r>
            <a:r>
              <a:rPr sz="2550" spc="65" dirty="0">
                <a:solidFill>
                  <a:srgbClr val="3B4B62"/>
                </a:solidFill>
                <a:latin typeface="Calibri"/>
                <a:cs typeface="Calibri"/>
              </a:rPr>
              <a:t>Mehdi</a:t>
            </a:r>
            <a:endParaRPr sz="2550" dirty="0">
              <a:latin typeface="Calibri"/>
              <a:cs typeface="Calibri"/>
            </a:endParaRPr>
          </a:p>
          <a:p>
            <a:pPr marL="50165" algn="ctr">
              <a:lnSpc>
                <a:spcPct val="100000"/>
              </a:lnSpc>
              <a:spcBef>
                <a:spcPts val="2855"/>
              </a:spcBef>
            </a:pPr>
            <a:r>
              <a:rPr lang="fr-FR" sz="2450" spc="125" dirty="0">
                <a:solidFill>
                  <a:srgbClr val="415B74"/>
                </a:solidFill>
                <a:latin typeface="Calibri"/>
                <a:cs typeface="Calibri"/>
              </a:rPr>
              <a:t>Dev 204 |</a:t>
            </a:r>
            <a:r>
              <a:rPr sz="2450" spc="-135" dirty="0">
                <a:solidFill>
                  <a:srgbClr val="415B74"/>
                </a:solidFill>
                <a:latin typeface="Calibri"/>
                <a:cs typeface="Calibri"/>
              </a:rPr>
              <a:t> </a:t>
            </a:r>
            <a:r>
              <a:rPr sz="2450" spc="240" dirty="0">
                <a:solidFill>
                  <a:srgbClr val="424242"/>
                </a:solidFill>
                <a:latin typeface="Calibri"/>
                <a:cs typeface="Calibri"/>
              </a:rPr>
              <a:t>2025</a:t>
            </a:r>
            <a:r>
              <a:rPr sz="2450" spc="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450" spc="140" dirty="0">
                <a:solidFill>
                  <a:srgbClr val="4B4B4B"/>
                </a:solidFill>
                <a:latin typeface="Calibri"/>
                <a:cs typeface="Calibri"/>
              </a:rPr>
              <a:t>-</a:t>
            </a:r>
            <a:r>
              <a:rPr sz="2450" spc="-204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450" spc="240" dirty="0">
                <a:solidFill>
                  <a:srgbClr val="3F4F66"/>
                </a:solidFill>
                <a:latin typeface="Calibri"/>
                <a:cs typeface="Calibri"/>
              </a:rPr>
              <a:t>2026</a:t>
            </a:r>
            <a:r>
              <a:rPr sz="2450" spc="-215" dirty="0">
                <a:solidFill>
                  <a:srgbClr val="3F4F66"/>
                </a:solidFill>
                <a:latin typeface="Calibri"/>
                <a:cs typeface="Calibri"/>
              </a:rPr>
              <a:t> </a:t>
            </a:r>
            <a:r>
              <a:rPr sz="2450" spc="290" dirty="0">
                <a:solidFill>
                  <a:srgbClr val="4F4F4F"/>
                </a:solidFill>
                <a:latin typeface="Calibri"/>
                <a:cs typeface="Calibri"/>
              </a:rPr>
              <a:t>|</a:t>
            </a:r>
            <a:r>
              <a:rPr sz="2450" spc="290" dirty="0">
                <a:solidFill>
                  <a:srgbClr val="505050"/>
                </a:solidFill>
                <a:latin typeface="Calibri"/>
                <a:cs typeface="Calibri"/>
              </a:rPr>
              <a:t>OFPPT</a:t>
            </a:r>
            <a:r>
              <a:rPr sz="2450" spc="10" dirty="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sz="2450" spc="220" dirty="0">
                <a:solidFill>
                  <a:srgbClr val="494949"/>
                </a:solidFill>
                <a:latin typeface="Calibri"/>
                <a:cs typeface="Calibri"/>
              </a:rPr>
              <a:t>Fès</a:t>
            </a:r>
            <a:endParaRPr sz="2450" dirty="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EE98FB-D8B5-8449-0E2B-ABDA1B373A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50" y="1006475"/>
            <a:ext cx="3871913" cy="212463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55AF25-9F48-023C-670C-715B96BD25C7}"/>
              </a:ext>
            </a:extLst>
          </p:cNvPr>
          <p:cNvCxnSpPr/>
          <p:nvPr/>
        </p:nvCxnSpPr>
        <p:spPr>
          <a:xfrm>
            <a:off x="5251450" y="777875"/>
            <a:ext cx="0" cy="2971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6809791-4EDD-E7BE-9E1E-D3596459CB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8165" y="710956"/>
            <a:ext cx="2683956" cy="27522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11ECBE-7B83-7492-F58D-DD7587BF7A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9991" y="694081"/>
            <a:ext cx="2683957" cy="26839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11533" y="4664779"/>
            <a:ext cx="753903" cy="64395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450" spc="125" dirty="0">
                <a:solidFill>
                  <a:srgbClr val="232323"/>
                </a:solidFill>
              </a:rPr>
              <a:t>Sommaire</a:t>
            </a:r>
            <a:r>
              <a:rPr sz="6450" spc="-295" dirty="0">
                <a:solidFill>
                  <a:srgbClr val="232323"/>
                </a:solidFill>
              </a:rPr>
              <a:t> </a:t>
            </a:r>
            <a:r>
              <a:rPr sz="6450" spc="225" dirty="0">
                <a:solidFill>
                  <a:srgbClr val="2A2A2A"/>
                </a:solidFill>
              </a:rPr>
              <a:t>de</a:t>
            </a:r>
            <a:r>
              <a:rPr sz="6450" spc="-760" dirty="0">
                <a:solidFill>
                  <a:srgbClr val="2A2A2A"/>
                </a:solidFill>
              </a:rPr>
              <a:t> </a:t>
            </a:r>
            <a:r>
              <a:rPr sz="6450" spc="165" dirty="0">
                <a:solidFill>
                  <a:srgbClr val="2A2A2A"/>
                </a:solidFill>
              </a:rPr>
              <a:t>lo</a:t>
            </a:r>
            <a:r>
              <a:rPr sz="6450" spc="-455" dirty="0">
                <a:solidFill>
                  <a:srgbClr val="2A2A2A"/>
                </a:solidFill>
              </a:rPr>
              <a:t> </a:t>
            </a:r>
            <a:r>
              <a:rPr sz="6450" spc="-10" dirty="0">
                <a:solidFill>
                  <a:srgbClr val="262626"/>
                </a:solidFill>
              </a:rPr>
              <a:t>Présentation</a:t>
            </a:r>
            <a:endParaRPr sz="6450"/>
          </a:p>
        </p:txBody>
      </p:sp>
      <p:sp>
        <p:nvSpPr>
          <p:cNvPr id="4" name="object 4"/>
          <p:cNvSpPr txBox="1"/>
          <p:nvPr/>
        </p:nvSpPr>
        <p:spPr>
          <a:xfrm>
            <a:off x="1458599" y="3888359"/>
            <a:ext cx="3275329" cy="3775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46355" algn="ctr">
              <a:lnSpc>
                <a:spcPct val="100000"/>
              </a:lnSpc>
              <a:spcBef>
                <a:spcPts val="105"/>
              </a:spcBef>
            </a:pPr>
            <a:r>
              <a:rPr sz="11200" spc="60" dirty="0">
                <a:solidFill>
                  <a:srgbClr val="004F87"/>
                </a:solidFill>
                <a:latin typeface="Calibri"/>
                <a:cs typeface="Calibri"/>
              </a:rPr>
              <a:t>e</a:t>
            </a:r>
            <a:endParaRPr sz="112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20"/>
              </a:spcBef>
            </a:pPr>
            <a:r>
              <a:rPr sz="4900" spc="-10" dirty="0">
                <a:solidFill>
                  <a:srgbClr val="015085"/>
                </a:solidFill>
                <a:latin typeface="Calibri"/>
                <a:cs typeface="Calibri"/>
              </a:rPr>
              <a:t>Introduction</a:t>
            </a:r>
            <a:endParaRPr sz="4900" dirty="0">
              <a:latin typeface="Calibri"/>
              <a:cs typeface="Calibri"/>
            </a:endParaRPr>
          </a:p>
          <a:p>
            <a:pPr marL="227965" marR="184785" algn="ctr">
              <a:lnSpc>
                <a:spcPct val="117800"/>
              </a:lnSpc>
              <a:spcBef>
                <a:spcPts val="2055"/>
              </a:spcBef>
            </a:pPr>
            <a:r>
              <a:rPr sz="2800" spc="-85" dirty="0">
                <a:solidFill>
                  <a:srgbClr val="484848"/>
                </a:solidFill>
                <a:latin typeface="Calibri"/>
                <a:cs typeface="Calibri"/>
              </a:rPr>
              <a:t>Contexte</a:t>
            </a:r>
            <a:r>
              <a:rPr sz="2800" spc="-10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4B4B4B"/>
                </a:solidFill>
                <a:latin typeface="Calibri"/>
                <a:cs typeface="Calibri"/>
              </a:rPr>
              <a:t>et</a:t>
            </a:r>
            <a:r>
              <a:rPr sz="2800" spc="-15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800" spc="-60" dirty="0">
                <a:solidFill>
                  <a:srgbClr val="464646"/>
                </a:solidFill>
                <a:latin typeface="Calibri"/>
                <a:cs typeface="Calibri"/>
              </a:rPr>
              <a:t>Objectifs </a:t>
            </a:r>
            <a:r>
              <a:rPr sz="2800" spc="-100" dirty="0">
                <a:solidFill>
                  <a:srgbClr val="444444"/>
                </a:solidFill>
                <a:latin typeface="Calibri"/>
                <a:cs typeface="Calibri"/>
              </a:rPr>
              <a:t>du</a:t>
            </a:r>
            <a:r>
              <a:rPr sz="2800" spc="-16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800" spc="-95" dirty="0">
                <a:solidFill>
                  <a:srgbClr val="464646"/>
                </a:solidFill>
                <a:latin typeface="Calibri"/>
                <a:cs typeface="Calibri"/>
              </a:rPr>
              <a:t>projet</a:t>
            </a:r>
            <a:r>
              <a:rPr sz="2800" spc="-2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800" spc="-40" dirty="0">
                <a:solidFill>
                  <a:srgbClr val="424242"/>
                </a:solidFill>
                <a:latin typeface="Calibri"/>
                <a:cs typeface="Calibri"/>
              </a:rPr>
              <a:t>Issal</a:t>
            </a:r>
            <a:r>
              <a:rPr sz="2800" spc="-1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444444"/>
                </a:solidFill>
                <a:latin typeface="Calibri"/>
                <a:cs typeface="Calibri"/>
              </a:rPr>
              <a:t>Fès.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18918" y="3888359"/>
            <a:ext cx="3028950" cy="4274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44780" algn="ctr">
              <a:lnSpc>
                <a:spcPct val="100000"/>
              </a:lnSpc>
              <a:spcBef>
                <a:spcPts val="105"/>
              </a:spcBef>
            </a:pPr>
            <a:r>
              <a:rPr sz="11200" dirty="0">
                <a:solidFill>
                  <a:srgbClr val="004F87"/>
                </a:solidFill>
                <a:latin typeface="Calibri"/>
                <a:cs typeface="Calibri"/>
              </a:rPr>
              <a:t>v</a:t>
            </a:r>
            <a:endParaRPr sz="112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20"/>
              </a:spcBef>
            </a:pPr>
            <a:r>
              <a:rPr sz="4900" spc="50" dirty="0">
                <a:solidFill>
                  <a:srgbClr val="034B7E"/>
                </a:solidFill>
                <a:latin typeface="Calibri"/>
                <a:cs typeface="Calibri"/>
              </a:rPr>
              <a:t>Conception</a:t>
            </a:r>
            <a:endParaRPr sz="4900" dirty="0">
              <a:latin typeface="Calibri"/>
              <a:cs typeface="Calibri"/>
            </a:endParaRPr>
          </a:p>
          <a:p>
            <a:pPr marL="452120" marR="404495" algn="ctr">
              <a:lnSpc>
                <a:spcPct val="123300"/>
              </a:lnSpc>
              <a:spcBef>
                <a:spcPts val="2190"/>
              </a:spcBef>
            </a:pPr>
            <a:r>
              <a:rPr sz="2550" spc="50" dirty="0">
                <a:solidFill>
                  <a:srgbClr val="464646"/>
                </a:solidFill>
                <a:latin typeface="Calibri"/>
                <a:cs typeface="Calibri"/>
              </a:rPr>
              <a:t>Analyse</a:t>
            </a:r>
            <a:r>
              <a:rPr sz="2550" spc="-5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550" spc="125" dirty="0">
                <a:solidFill>
                  <a:srgbClr val="494949"/>
                </a:solidFill>
                <a:latin typeface="Calibri"/>
                <a:cs typeface="Calibri"/>
              </a:rPr>
              <a:t>UML</a:t>
            </a:r>
            <a:r>
              <a:rPr sz="2550" spc="-6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550" spc="-25" dirty="0">
                <a:solidFill>
                  <a:srgbClr val="4D4D4D"/>
                </a:solidFill>
                <a:latin typeface="Calibri"/>
                <a:cs typeface="Calibri"/>
              </a:rPr>
              <a:t>et </a:t>
            </a:r>
            <a:r>
              <a:rPr sz="2700" spc="-10" dirty="0">
                <a:solidFill>
                  <a:srgbClr val="4B4B4B"/>
                </a:solidFill>
                <a:latin typeface="Calibri"/>
                <a:cs typeface="Calibri"/>
              </a:rPr>
              <a:t>architecture </a:t>
            </a:r>
            <a:r>
              <a:rPr sz="2700" spc="-10" dirty="0">
                <a:solidFill>
                  <a:srgbClr val="464646"/>
                </a:solidFill>
                <a:latin typeface="Calibri"/>
                <a:cs typeface="Calibri"/>
              </a:rPr>
              <a:t>technique.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68780" y="3888359"/>
            <a:ext cx="2994025" cy="3775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62560" algn="ctr">
              <a:lnSpc>
                <a:spcPct val="100000"/>
              </a:lnSpc>
              <a:spcBef>
                <a:spcPts val="105"/>
              </a:spcBef>
            </a:pPr>
            <a:r>
              <a:rPr sz="11200" spc="-2570" dirty="0">
                <a:solidFill>
                  <a:srgbClr val="005080"/>
                </a:solidFill>
                <a:latin typeface="Calibri"/>
                <a:cs typeface="Calibri"/>
              </a:rPr>
              <a:t>•r»</a:t>
            </a:r>
            <a:endParaRPr sz="11200" dirty="0">
              <a:latin typeface="Calibri"/>
              <a:cs typeface="Calibri"/>
            </a:endParaRPr>
          </a:p>
          <a:p>
            <a:pPr marR="47625" algn="ctr">
              <a:lnSpc>
                <a:spcPct val="100000"/>
              </a:lnSpc>
              <a:spcBef>
                <a:spcPts val="220"/>
              </a:spcBef>
            </a:pPr>
            <a:r>
              <a:rPr sz="4900" spc="60" dirty="0">
                <a:solidFill>
                  <a:srgbClr val="005290"/>
                </a:solidFill>
                <a:latin typeface="Calibri"/>
                <a:cs typeface="Calibri"/>
              </a:rPr>
              <a:t>Réalisation</a:t>
            </a:r>
            <a:endParaRPr sz="4900" dirty="0">
              <a:latin typeface="Calibri"/>
              <a:cs typeface="Calibri"/>
            </a:endParaRPr>
          </a:p>
          <a:p>
            <a:pPr marL="40640" marR="5080" indent="-22860" algn="ctr">
              <a:lnSpc>
                <a:spcPct val="117800"/>
              </a:lnSpc>
              <a:spcBef>
                <a:spcPts val="2055"/>
              </a:spcBef>
            </a:pPr>
            <a:r>
              <a:rPr sz="2800" spc="-90" dirty="0">
                <a:solidFill>
                  <a:srgbClr val="444444"/>
                </a:solidFill>
                <a:latin typeface="Calibri"/>
                <a:cs typeface="Calibri"/>
              </a:rPr>
              <a:t>Démonstration</a:t>
            </a:r>
            <a:r>
              <a:rPr sz="2800" spc="-3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464646"/>
                </a:solidFill>
                <a:latin typeface="Calibri"/>
                <a:cs typeface="Calibri"/>
              </a:rPr>
              <a:t>et </a:t>
            </a:r>
            <a:r>
              <a:rPr sz="2800" spc="-65" dirty="0">
                <a:solidFill>
                  <a:srgbClr val="4B4B4B"/>
                </a:solidFill>
                <a:latin typeface="Calibri"/>
                <a:cs typeface="Calibri"/>
              </a:rPr>
              <a:t>choix </a:t>
            </a:r>
            <a:r>
              <a:rPr sz="2800" spc="-90" dirty="0">
                <a:solidFill>
                  <a:srgbClr val="464646"/>
                </a:solidFill>
                <a:latin typeface="Calibri"/>
                <a:cs typeface="Calibri"/>
              </a:rPr>
              <a:t>technologiques.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206643" y="5608202"/>
            <a:ext cx="1763395" cy="25546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125"/>
              </a:spcBef>
            </a:pPr>
            <a:r>
              <a:rPr sz="5000" spc="65" dirty="0">
                <a:solidFill>
                  <a:srgbClr val="014D8C"/>
                </a:solidFill>
                <a:latin typeface="Calibri"/>
                <a:cs typeface="Calibri"/>
              </a:rPr>
              <a:t>Bilan</a:t>
            </a:r>
            <a:endParaRPr sz="5000" dirty="0">
              <a:latin typeface="Calibri"/>
              <a:cs typeface="Calibri"/>
            </a:endParaRPr>
          </a:p>
          <a:p>
            <a:pPr marL="23495" marR="5080" indent="-11430" algn="just">
              <a:lnSpc>
                <a:spcPct val="122100"/>
              </a:lnSpc>
              <a:spcBef>
                <a:spcPts val="2015"/>
              </a:spcBef>
            </a:pPr>
            <a:r>
              <a:rPr sz="2700" spc="-10" dirty="0">
                <a:solidFill>
                  <a:srgbClr val="444444"/>
                </a:solidFill>
                <a:latin typeface="Calibri"/>
                <a:cs typeface="Calibri"/>
              </a:rPr>
              <a:t>Difficultés</a:t>
            </a:r>
            <a:r>
              <a:rPr sz="2700" spc="-12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444444"/>
                </a:solidFill>
                <a:latin typeface="Calibri"/>
                <a:cs typeface="Calibri"/>
              </a:rPr>
              <a:t>et </a:t>
            </a:r>
            <a:r>
              <a:rPr sz="2700" spc="-25" dirty="0">
                <a:solidFill>
                  <a:srgbClr val="4B4B4B"/>
                </a:solidFill>
                <a:latin typeface="Calibri"/>
                <a:cs typeface="Calibri"/>
              </a:rPr>
              <a:t>perspectives </a:t>
            </a:r>
            <a:r>
              <a:rPr sz="2700" spc="-10" dirty="0">
                <a:solidFill>
                  <a:srgbClr val="424242"/>
                </a:solidFill>
                <a:latin typeface="Calibri"/>
                <a:cs typeface="Calibri"/>
              </a:rPr>
              <a:t>d'évolution.</a:t>
            </a:r>
            <a:endParaRPr sz="27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6450" dirty="0">
                <a:solidFill>
                  <a:srgbClr val="2A2A2A"/>
                </a:solidFill>
              </a:rPr>
              <a:t>Introduction</a:t>
            </a:r>
            <a:r>
              <a:rPr sz="6450" spc="200" dirty="0">
                <a:solidFill>
                  <a:srgbClr val="2A2A2A"/>
                </a:solidFill>
              </a:rPr>
              <a:t> </a:t>
            </a:r>
            <a:r>
              <a:rPr sz="6450" spc="85" dirty="0">
                <a:solidFill>
                  <a:srgbClr val="2A2A2A"/>
                </a:solidFill>
              </a:rPr>
              <a:t>&amp;</a:t>
            </a:r>
            <a:r>
              <a:rPr sz="6450" spc="-540" dirty="0">
                <a:solidFill>
                  <a:srgbClr val="2A2A2A"/>
                </a:solidFill>
              </a:rPr>
              <a:t> </a:t>
            </a:r>
            <a:r>
              <a:rPr sz="6450" spc="-10" dirty="0"/>
              <a:t>Objectifs</a:t>
            </a:r>
            <a:endParaRPr sz="64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Moderniser</a:t>
            </a:r>
            <a:r>
              <a:rPr spc="95" dirty="0"/>
              <a:t> </a:t>
            </a:r>
            <a:r>
              <a:rPr spc="145" dirty="0">
                <a:solidFill>
                  <a:srgbClr val="034F87"/>
                </a:solidFill>
              </a:rPr>
              <a:t>lo</a:t>
            </a:r>
            <a:r>
              <a:rPr spc="-305" dirty="0">
                <a:solidFill>
                  <a:srgbClr val="034F87"/>
                </a:solidFill>
              </a:rPr>
              <a:t> </a:t>
            </a:r>
            <a:r>
              <a:rPr dirty="0">
                <a:solidFill>
                  <a:srgbClr val="054D80"/>
                </a:solidFill>
              </a:rPr>
              <a:t>mobilité</a:t>
            </a:r>
            <a:r>
              <a:rPr spc="-120" dirty="0">
                <a:solidFill>
                  <a:srgbClr val="054D80"/>
                </a:solidFill>
              </a:rPr>
              <a:t> </a:t>
            </a:r>
            <a:r>
              <a:rPr dirty="0">
                <a:solidFill>
                  <a:srgbClr val="005287"/>
                </a:solidFill>
              </a:rPr>
              <a:t>à</a:t>
            </a:r>
            <a:r>
              <a:rPr spc="15" dirty="0">
                <a:solidFill>
                  <a:srgbClr val="005287"/>
                </a:solidFill>
              </a:rPr>
              <a:t> </a:t>
            </a:r>
            <a:r>
              <a:rPr spc="-25" dirty="0">
                <a:solidFill>
                  <a:srgbClr val="004F8C"/>
                </a:solidFill>
              </a:rPr>
              <a:t>Fès</a:t>
            </a:r>
          </a:p>
          <a:p>
            <a:pPr marL="29845" marR="5080" indent="4445">
              <a:lnSpc>
                <a:spcPct val="117800"/>
              </a:lnSpc>
              <a:spcBef>
                <a:spcPts val="2050"/>
              </a:spcBef>
            </a:pPr>
            <a:r>
              <a:rPr sz="2800" spc="-40" dirty="0">
                <a:solidFill>
                  <a:srgbClr val="4D4D4D"/>
                </a:solidFill>
              </a:rPr>
              <a:t>Issal</a:t>
            </a:r>
            <a:r>
              <a:rPr sz="2800" spc="-100" dirty="0">
                <a:solidFill>
                  <a:srgbClr val="4D4D4D"/>
                </a:solidFill>
              </a:rPr>
              <a:t> </a:t>
            </a:r>
            <a:r>
              <a:rPr sz="2800" spc="-85" dirty="0">
                <a:solidFill>
                  <a:srgbClr val="484848"/>
                </a:solidFill>
              </a:rPr>
              <a:t>Fès</a:t>
            </a:r>
            <a:r>
              <a:rPr sz="2800" spc="-65" dirty="0">
                <a:solidFill>
                  <a:srgbClr val="484848"/>
                </a:solidFill>
              </a:rPr>
              <a:t> </a:t>
            </a:r>
            <a:r>
              <a:rPr sz="2800" spc="-120" dirty="0">
                <a:solidFill>
                  <a:srgbClr val="444444"/>
                </a:solidFill>
              </a:rPr>
              <a:t>répond</a:t>
            </a:r>
            <a:r>
              <a:rPr sz="2800" spc="-40" dirty="0">
                <a:solidFill>
                  <a:srgbClr val="444444"/>
                </a:solidFill>
              </a:rPr>
              <a:t> </a:t>
            </a:r>
            <a:r>
              <a:rPr sz="2800" spc="-110" dirty="0">
                <a:solidFill>
                  <a:srgbClr val="4F4F4F"/>
                </a:solidFill>
              </a:rPr>
              <a:t>au</a:t>
            </a:r>
            <a:r>
              <a:rPr sz="2800" spc="-170" dirty="0">
                <a:solidFill>
                  <a:srgbClr val="4F4F4F"/>
                </a:solidFill>
              </a:rPr>
              <a:t> </a:t>
            </a:r>
            <a:r>
              <a:rPr sz="2800" spc="-110" dirty="0">
                <a:solidFill>
                  <a:srgbClr val="494949"/>
                </a:solidFill>
              </a:rPr>
              <a:t>besoin</a:t>
            </a:r>
            <a:r>
              <a:rPr sz="2800" spc="-65" dirty="0">
                <a:solidFill>
                  <a:srgbClr val="494949"/>
                </a:solidFill>
              </a:rPr>
              <a:t> </a:t>
            </a:r>
            <a:r>
              <a:rPr sz="2800" spc="-100" dirty="0">
                <a:solidFill>
                  <a:srgbClr val="4D4D4D"/>
                </a:solidFill>
              </a:rPr>
              <a:t>d'une</a:t>
            </a:r>
            <a:r>
              <a:rPr sz="2800" spc="-150" dirty="0">
                <a:solidFill>
                  <a:srgbClr val="4D4D4D"/>
                </a:solidFill>
              </a:rPr>
              <a:t> </a:t>
            </a:r>
            <a:r>
              <a:rPr sz="2800" spc="-85" dirty="0">
                <a:solidFill>
                  <a:srgbClr val="464646"/>
                </a:solidFill>
              </a:rPr>
              <a:t>solution</a:t>
            </a:r>
            <a:r>
              <a:rPr sz="2800" spc="-10" dirty="0">
                <a:solidFill>
                  <a:srgbClr val="464646"/>
                </a:solidFill>
              </a:rPr>
              <a:t> </a:t>
            </a:r>
            <a:r>
              <a:rPr sz="2800" spc="-140" dirty="0">
                <a:solidFill>
                  <a:srgbClr val="484848"/>
                </a:solidFill>
              </a:rPr>
              <a:t>numérique</a:t>
            </a:r>
            <a:r>
              <a:rPr sz="2800" spc="70" dirty="0">
                <a:solidFill>
                  <a:srgbClr val="484848"/>
                </a:solidFill>
              </a:rPr>
              <a:t> </a:t>
            </a:r>
            <a:r>
              <a:rPr sz="2800" spc="-85" dirty="0">
                <a:solidFill>
                  <a:srgbClr val="484848"/>
                </a:solidFill>
              </a:rPr>
              <a:t>centralisée </a:t>
            </a:r>
            <a:r>
              <a:rPr sz="2800" spc="-110" dirty="0">
                <a:solidFill>
                  <a:srgbClr val="444444"/>
                </a:solidFill>
              </a:rPr>
              <a:t>pour</a:t>
            </a:r>
            <a:r>
              <a:rPr sz="2800" spc="-40" dirty="0">
                <a:solidFill>
                  <a:srgbClr val="444444"/>
                </a:solidFill>
              </a:rPr>
              <a:t> </a:t>
            </a:r>
            <a:r>
              <a:rPr sz="2800" spc="-80" dirty="0">
                <a:solidFill>
                  <a:srgbClr val="484848"/>
                </a:solidFill>
              </a:rPr>
              <a:t>les</a:t>
            </a:r>
            <a:r>
              <a:rPr sz="2800" spc="-145" dirty="0">
                <a:solidFill>
                  <a:srgbClr val="484848"/>
                </a:solidFill>
              </a:rPr>
              <a:t> </a:t>
            </a:r>
            <a:r>
              <a:rPr sz="2800" spc="-75" dirty="0">
                <a:solidFill>
                  <a:srgbClr val="464646"/>
                </a:solidFill>
              </a:rPr>
              <a:t>usagers</a:t>
            </a:r>
            <a:r>
              <a:rPr sz="2800" spc="-25" dirty="0">
                <a:solidFill>
                  <a:srgbClr val="464646"/>
                </a:solidFill>
              </a:rPr>
              <a:t> </a:t>
            </a:r>
            <a:r>
              <a:rPr sz="2800" spc="-100" dirty="0">
                <a:solidFill>
                  <a:srgbClr val="444444"/>
                </a:solidFill>
              </a:rPr>
              <a:t>du</a:t>
            </a:r>
            <a:r>
              <a:rPr sz="2800" spc="-175" dirty="0">
                <a:solidFill>
                  <a:srgbClr val="444444"/>
                </a:solidFill>
              </a:rPr>
              <a:t> </a:t>
            </a:r>
            <a:r>
              <a:rPr sz="2800" spc="-20" dirty="0">
                <a:solidFill>
                  <a:srgbClr val="484848"/>
                </a:solidFill>
              </a:rPr>
              <a:t>bus.</a:t>
            </a:r>
            <a:endParaRPr sz="2800"/>
          </a:p>
          <a:p>
            <a:pPr marL="654685" marR="3277235" indent="5080">
              <a:lnSpc>
                <a:spcPts val="6430"/>
              </a:lnSpc>
              <a:spcBef>
                <a:spcPts val="235"/>
              </a:spcBef>
            </a:pPr>
            <a:r>
              <a:rPr sz="2800" spc="-45" dirty="0">
                <a:solidFill>
                  <a:srgbClr val="484848"/>
                </a:solidFill>
              </a:rPr>
              <a:t>Centraliser</a:t>
            </a:r>
            <a:r>
              <a:rPr sz="2800" spc="-15" dirty="0">
                <a:solidFill>
                  <a:srgbClr val="484848"/>
                </a:solidFill>
              </a:rPr>
              <a:t> </a:t>
            </a:r>
            <a:r>
              <a:rPr sz="2800" spc="-85" dirty="0">
                <a:solidFill>
                  <a:srgbClr val="484848"/>
                </a:solidFill>
              </a:rPr>
              <a:t>les</a:t>
            </a:r>
            <a:r>
              <a:rPr sz="2800" spc="-90" dirty="0">
                <a:solidFill>
                  <a:srgbClr val="484848"/>
                </a:solidFill>
              </a:rPr>
              <a:t> lignes</a:t>
            </a:r>
            <a:r>
              <a:rPr sz="2800" spc="-70" dirty="0">
                <a:solidFill>
                  <a:srgbClr val="484848"/>
                </a:solidFill>
              </a:rPr>
              <a:t> </a:t>
            </a:r>
            <a:r>
              <a:rPr sz="2800" spc="-80" dirty="0">
                <a:solidFill>
                  <a:srgbClr val="464646"/>
                </a:solidFill>
              </a:rPr>
              <a:t>et</a:t>
            </a:r>
            <a:r>
              <a:rPr sz="2800" spc="-160" dirty="0">
                <a:solidFill>
                  <a:srgbClr val="464646"/>
                </a:solidFill>
              </a:rPr>
              <a:t> </a:t>
            </a:r>
            <a:r>
              <a:rPr sz="2800" spc="-80" dirty="0">
                <a:solidFill>
                  <a:srgbClr val="484848"/>
                </a:solidFill>
              </a:rPr>
              <a:t>itinéraires. </a:t>
            </a:r>
            <a:r>
              <a:rPr sz="2800" spc="-50" dirty="0">
                <a:solidFill>
                  <a:srgbClr val="444444"/>
                </a:solidFill>
              </a:rPr>
              <a:t>Faciliter</a:t>
            </a:r>
            <a:r>
              <a:rPr sz="2800" spc="-5" dirty="0">
                <a:solidFill>
                  <a:srgbClr val="444444"/>
                </a:solidFill>
              </a:rPr>
              <a:t> </a:t>
            </a:r>
            <a:r>
              <a:rPr sz="2800" spc="-110" dirty="0">
                <a:solidFill>
                  <a:srgbClr val="444444"/>
                </a:solidFill>
              </a:rPr>
              <a:t>l'achat </a:t>
            </a:r>
            <a:r>
              <a:rPr sz="2800" spc="-110" dirty="0">
                <a:solidFill>
                  <a:srgbClr val="494949"/>
                </a:solidFill>
              </a:rPr>
              <a:t>de</a:t>
            </a:r>
            <a:r>
              <a:rPr sz="2800" spc="-165" dirty="0">
                <a:solidFill>
                  <a:srgbClr val="494949"/>
                </a:solidFill>
              </a:rPr>
              <a:t> </a:t>
            </a:r>
            <a:r>
              <a:rPr sz="2800" spc="-80" dirty="0">
                <a:solidFill>
                  <a:srgbClr val="484848"/>
                </a:solidFill>
              </a:rPr>
              <a:t>billets</a:t>
            </a:r>
            <a:r>
              <a:rPr sz="2800" spc="-45" dirty="0">
                <a:solidFill>
                  <a:srgbClr val="484848"/>
                </a:solidFill>
              </a:rPr>
              <a:t> </a:t>
            </a:r>
            <a:r>
              <a:rPr sz="2800" spc="-110" dirty="0">
                <a:solidFill>
                  <a:srgbClr val="484848"/>
                </a:solidFill>
              </a:rPr>
              <a:t>en</a:t>
            </a:r>
            <a:r>
              <a:rPr sz="2800" spc="-195" dirty="0">
                <a:solidFill>
                  <a:srgbClr val="484848"/>
                </a:solidFill>
              </a:rPr>
              <a:t> </a:t>
            </a:r>
            <a:r>
              <a:rPr sz="2800" spc="-10" dirty="0">
                <a:solidFill>
                  <a:srgbClr val="464646"/>
                </a:solidFill>
              </a:rPr>
              <a:t>Iigne.</a:t>
            </a:r>
            <a:endParaRPr sz="2800"/>
          </a:p>
          <a:p>
            <a:pPr marL="664845" marR="2173605" indent="-9525">
              <a:lnSpc>
                <a:spcPts val="6430"/>
              </a:lnSpc>
            </a:pPr>
            <a:r>
              <a:rPr sz="2800" spc="-75" dirty="0">
                <a:solidFill>
                  <a:srgbClr val="484848"/>
                </a:solidFill>
              </a:rPr>
              <a:t>Améliorer </a:t>
            </a:r>
            <a:r>
              <a:rPr sz="2800" spc="-80" dirty="0">
                <a:solidFill>
                  <a:srgbClr val="444444"/>
                </a:solidFill>
              </a:rPr>
              <a:t>l'information</a:t>
            </a:r>
            <a:r>
              <a:rPr sz="2800" spc="-5" dirty="0">
                <a:solidFill>
                  <a:srgbClr val="444444"/>
                </a:solidFill>
              </a:rPr>
              <a:t> </a:t>
            </a:r>
            <a:r>
              <a:rPr sz="2800" spc="-100" dirty="0">
                <a:solidFill>
                  <a:srgbClr val="4D4D4D"/>
                </a:solidFill>
              </a:rPr>
              <a:t>voyageur</a:t>
            </a:r>
            <a:r>
              <a:rPr sz="2800" spc="-60" dirty="0">
                <a:solidFill>
                  <a:srgbClr val="4D4D4D"/>
                </a:solidFill>
              </a:rPr>
              <a:t> </a:t>
            </a:r>
            <a:r>
              <a:rPr sz="2800" spc="-90" dirty="0">
                <a:solidFill>
                  <a:srgbClr val="464646"/>
                </a:solidFill>
              </a:rPr>
              <a:t>(alertes). </a:t>
            </a:r>
            <a:r>
              <a:rPr sz="2800" spc="-90" dirty="0">
                <a:solidFill>
                  <a:srgbClr val="444444"/>
                </a:solidFill>
              </a:rPr>
              <a:t>Simplifier</a:t>
            </a:r>
            <a:r>
              <a:rPr sz="2800" spc="5" dirty="0">
                <a:solidFill>
                  <a:srgbClr val="444444"/>
                </a:solidFill>
              </a:rPr>
              <a:t> </a:t>
            </a:r>
            <a:r>
              <a:rPr sz="2800" spc="-45" dirty="0">
                <a:solidFill>
                  <a:srgbClr val="444444"/>
                </a:solidFill>
              </a:rPr>
              <a:t>la</a:t>
            </a:r>
            <a:r>
              <a:rPr sz="2800" spc="-180" dirty="0">
                <a:solidFill>
                  <a:srgbClr val="444444"/>
                </a:solidFill>
              </a:rPr>
              <a:t> </a:t>
            </a:r>
            <a:r>
              <a:rPr sz="2800" spc="-95" dirty="0">
                <a:solidFill>
                  <a:srgbClr val="424242"/>
                </a:solidFill>
              </a:rPr>
              <a:t>gestion</a:t>
            </a:r>
            <a:r>
              <a:rPr sz="2800" spc="-20" dirty="0">
                <a:solidFill>
                  <a:srgbClr val="424242"/>
                </a:solidFill>
              </a:rPr>
              <a:t> </a:t>
            </a:r>
            <a:r>
              <a:rPr sz="2800" spc="-20" dirty="0">
                <a:solidFill>
                  <a:srgbClr val="444444"/>
                </a:solidFill>
              </a:rPr>
              <a:t>administrative.</a:t>
            </a:r>
            <a:endParaRPr sz="2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F80D0E-C0C5-0C12-3FD4-964486955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250" y="2873992"/>
            <a:ext cx="10070708" cy="67228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6450" spc="-40" dirty="0">
                <a:solidFill>
                  <a:srgbClr val="2B2B2B"/>
                </a:solidFill>
              </a:rPr>
              <a:t>Lo</a:t>
            </a:r>
            <a:r>
              <a:rPr sz="6450" spc="-380" dirty="0">
                <a:solidFill>
                  <a:srgbClr val="2B2B2B"/>
                </a:solidFill>
              </a:rPr>
              <a:t> </a:t>
            </a:r>
            <a:r>
              <a:rPr sz="6450" spc="40" dirty="0">
                <a:solidFill>
                  <a:srgbClr val="262626"/>
                </a:solidFill>
              </a:rPr>
              <a:t>Problématique</a:t>
            </a:r>
            <a:endParaRPr sz="6450"/>
          </a:p>
        </p:txBody>
      </p:sp>
      <p:sp>
        <p:nvSpPr>
          <p:cNvPr id="3" name="object 3"/>
          <p:cNvSpPr txBox="1"/>
          <p:nvPr/>
        </p:nvSpPr>
        <p:spPr>
          <a:xfrm>
            <a:off x="2521980" y="4653388"/>
            <a:ext cx="14246860" cy="268795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 indent="14604">
              <a:lnSpc>
                <a:spcPts val="6930"/>
              </a:lnSpc>
              <a:spcBef>
                <a:spcPts val="370"/>
              </a:spcBef>
            </a:pPr>
            <a:r>
              <a:rPr sz="5900" i="1" spc="-345" dirty="0">
                <a:solidFill>
                  <a:srgbClr val="333333"/>
                </a:solidFill>
                <a:latin typeface="Calibri"/>
                <a:cs typeface="Calibri"/>
              </a:rPr>
              <a:t>Comment</a:t>
            </a:r>
            <a:r>
              <a:rPr sz="5900" i="1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5900" i="1" spc="-175" dirty="0" err="1">
                <a:solidFill>
                  <a:srgbClr val="383838"/>
                </a:solidFill>
                <a:latin typeface="Calibri"/>
                <a:cs typeface="Calibri"/>
              </a:rPr>
              <a:t>centraliser</a:t>
            </a:r>
            <a:r>
              <a:rPr sz="5900" i="1" spc="18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lang="fr-FR" sz="5900" i="1" spc="-535" dirty="0">
                <a:solidFill>
                  <a:srgbClr val="3B3B3B"/>
                </a:solidFill>
                <a:latin typeface="Calibri"/>
                <a:cs typeface="Calibri"/>
              </a:rPr>
              <a:t>l</a:t>
            </a:r>
            <a:r>
              <a:rPr sz="5900" i="1" spc="-535" dirty="0">
                <a:solidFill>
                  <a:srgbClr val="3B3B3B"/>
                </a:solidFill>
                <a:latin typeface="Calibri"/>
                <a:cs typeface="Calibri"/>
              </a:rPr>
              <a:t>es</a:t>
            </a:r>
            <a:r>
              <a:rPr sz="5900" i="1" spc="-50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5900" i="1" spc="-315" dirty="0">
                <a:solidFill>
                  <a:srgbClr val="313131"/>
                </a:solidFill>
                <a:latin typeface="Calibri"/>
                <a:cs typeface="Calibri"/>
              </a:rPr>
              <a:t>informations</a:t>
            </a:r>
            <a:r>
              <a:rPr sz="5900" i="1" spc="-2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5900" i="1" spc="-295" dirty="0">
                <a:solidFill>
                  <a:srgbClr val="3D3D3D"/>
                </a:solidFill>
                <a:latin typeface="Calibri"/>
                <a:cs typeface="Calibri"/>
              </a:rPr>
              <a:t>de</a:t>
            </a:r>
            <a:r>
              <a:rPr sz="5900" i="1" spc="-22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5900" i="1" spc="-315" dirty="0">
                <a:solidFill>
                  <a:srgbClr val="363636"/>
                </a:solidFill>
                <a:latin typeface="Calibri"/>
                <a:cs typeface="Calibri"/>
              </a:rPr>
              <a:t>transport </a:t>
            </a:r>
            <a:r>
              <a:rPr sz="5900" i="1" spc="-290" dirty="0">
                <a:solidFill>
                  <a:srgbClr val="363636"/>
                </a:solidFill>
                <a:latin typeface="Calibri"/>
                <a:cs typeface="Calibri"/>
              </a:rPr>
              <a:t>urbain</a:t>
            </a:r>
            <a:r>
              <a:rPr sz="5900" i="1" spc="-31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5900" i="1" spc="-155" dirty="0">
                <a:solidFill>
                  <a:srgbClr val="3D3D3D"/>
                </a:solidFill>
                <a:latin typeface="Calibri"/>
                <a:cs typeface="Calibri"/>
              </a:rPr>
              <a:t>et</a:t>
            </a:r>
            <a:r>
              <a:rPr sz="5900" i="1" spc="-39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5900" i="1" spc="-250" dirty="0" err="1">
                <a:solidFill>
                  <a:srgbClr val="383838"/>
                </a:solidFill>
                <a:latin typeface="Calibri"/>
                <a:cs typeface="Calibri"/>
              </a:rPr>
              <a:t>simpli</a:t>
            </a:r>
            <a:r>
              <a:rPr lang="fr-FR" sz="5900" i="1" spc="-250" dirty="0">
                <a:solidFill>
                  <a:srgbClr val="383838"/>
                </a:solidFill>
                <a:latin typeface="Calibri"/>
                <a:cs typeface="Calibri"/>
              </a:rPr>
              <a:t>fi</a:t>
            </a:r>
            <a:r>
              <a:rPr sz="5900" i="1" spc="-250" dirty="0">
                <a:solidFill>
                  <a:srgbClr val="383838"/>
                </a:solidFill>
                <a:latin typeface="Calibri"/>
                <a:cs typeface="Calibri"/>
              </a:rPr>
              <a:t>er</a:t>
            </a:r>
            <a:r>
              <a:rPr sz="5900" i="1" spc="-6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5900" i="1" spc="-355" dirty="0">
                <a:solidFill>
                  <a:srgbClr val="343434"/>
                </a:solidFill>
                <a:latin typeface="Calibri"/>
                <a:cs typeface="Calibri"/>
              </a:rPr>
              <a:t>l'achat</a:t>
            </a:r>
            <a:r>
              <a:rPr sz="5900" i="1" spc="-8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5900" i="1" spc="-295" dirty="0">
                <a:solidFill>
                  <a:srgbClr val="344659"/>
                </a:solidFill>
                <a:latin typeface="Calibri"/>
                <a:cs typeface="Calibri"/>
              </a:rPr>
              <a:t>de</a:t>
            </a:r>
            <a:r>
              <a:rPr sz="5900" i="1" spc="-320" dirty="0">
                <a:solidFill>
                  <a:srgbClr val="344659"/>
                </a:solidFill>
                <a:latin typeface="Calibri"/>
                <a:cs typeface="Calibri"/>
              </a:rPr>
              <a:t> </a:t>
            </a:r>
            <a:r>
              <a:rPr sz="5900" i="1" spc="-254" dirty="0">
                <a:solidFill>
                  <a:srgbClr val="2B2B2B"/>
                </a:solidFill>
                <a:latin typeface="Calibri"/>
                <a:cs typeface="Calibri"/>
              </a:rPr>
              <a:t>bi</a:t>
            </a:r>
            <a:r>
              <a:rPr lang="fr-FR" sz="5900" i="1" spc="-254" dirty="0">
                <a:solidFill>
                  <a:srgbClr val="2B2B2B"/>
                </a:solidFill>
                <a:latin typeface="Calibri"/>
                <a:cs typeface="Calibri"/>
              </a:rPr>
              <a:t>l</a:t>
            </a:r>
            <a:r>
              <a:rPr sz="5900" i="1" spc="-254" dirty="0">
                <a:solidFill>
                  <a:srgbClr val="2B2B2B"/>
                </a:solidFill>
                <a:latin typeface="Calibri"/>
                <a:cs typeface="Calibri"/>
              </a:rPr>
              <a:t>lets</a:t>
            </a:r>
            <a:r>
              <a:rPr sz="5900" i="1" spc="-1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5900" i="1" spc="-355" dirty="0">
                <a:solidFill>
                  <a:srgbClr val="2F4256"/>
                </a:solidFill>
                <a:latin typeface="Calibri"/>
                <a:cs typeface="Calibri"/>
              </a:rPr>
              <a:t>via</a:t>
            </a:r>
            <a:r>
              <a:rPr sz="5900" i="1" spc="-295" dirty="0">
                <a:solidFill>
                  <a:srgbClr val="2F4256"/>
                </a:solidFill>
                <a:latin typeface="Calibri"/>
                <a:cs typeface="Calibri"/>
              </a:rPr>
              <a:t> </a:t>
            </a:r>
            <a:r>
              <a:rPr sz="5900" i="1" spc="-300" dirty="0">
                <a:solidFill>
                  <a:srgbClr val="3A3A3A"/>
                </a:solidFill>
                <a:latin typeface="Calibri"/>
                <a:cs typeface="Calibri"/>
              </a:rPr>
              <a:t>une</a:t>
            </a:r>
            <a:r>
              <a:rPr sz="5900" i="1" spc="-25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5900" i="1" spc="-280" dirty="0">
                <a:solidFill>
                  <a:srgbClr val="333333"/>
                </a:solidFill>
                <a:latin typeface="Calibri"/>
                <a:cs typeface="Calibri"/>
              </a:rPr>
              <a:t>interface </a:t>
            </a:r>
            <a:r>
              <a:rPr sz="5900" i="1" spc="-245" dirty="0">
                <a:solidFill>
                  <a:srgbClr val="363636"/>
                </a:solidFill>
                <a:latin typeface="Calibri"/>
                <a:cs typeface="Calibri"/>
              </a:rPr>
              <a:t>intuitive</a:t>
            </a:r>
            <a:r>
              <a:rPr sz="5900" i="1" spc="-6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5900" i="1" spc="-254" dirty="0">
                <a:solidFill>
                  <a:srgbClr val="2A2A2A"/>
                </a:solidFill>
                <a:latin typeface="Calibri"/>
                <a:cs typeface="Calibri"/>
              </a:rPr>
              <a:t>pour</a:t>
            </a:r>
            <a:r>
              <a:rPr sz="5900" i="1" spc="-24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5900" i="1" spc="-185" dirty="0">
                <a:solidFill>
                  <a:srgbClr val="383838"/>
                </a:solidFill>
                <a:latin typeface="Calibri"/>
                <a:cs typeface="Calibri"/>
              </a:rPr>
              <a:t>les</a:t>
            </a:r>
            <a:r>
              <a:rPr sz="5900" i="1" spc="-409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5900" i="1" spc="-250" dirty="0">
                <a:solidFill>
                  <a:srgbClr val="2A2A2A"/>
                </a:solidFill>
                <a:latin typeface="Calibri"/>
                <a:cs typeface="Calibri"/>
              </a:rPr>
              <a:t>citoyens </a:t>
            </a:r>
            <a:r>
              <a:rPr sz="5900" i="1" spc="-295" dirty="0">
                <a:solidFill>
                  <a:srgbClr val="3D3D3D"/>
                </a:solidFill>
                <a:latin typeface="Calibri"/>
                <a:cs typeface="Calibri"/>
              </a:rPr>
              <a:t>de</a:t>
            </a:r>
            <a:r>
              <a:rPr sz="5900" i="1" spc="-31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5900" i="1" spc="-20" dirty="0">
                <a:solidFill>
                  <a:srgbClr val="3D3D3D"/>
                </a:solidFill>
                <a:latin typeface="Calibri"/>
                <a:cs typeface="Calibri"/>
              </a:rPr>
              <a:t>Fès?</a:t>
            </a:r>
            <a:endParaRPr sz="5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47752" y="8021741"/>
            <a:ext cx="14212569" cy="4775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dirty="0">
                <a:solidFill>
                  <a:srgbClr val="5B758E"/>
                </a:solidFill>
                <a:latin typeface="Calibri"/>
                <a:cs typeface="Calibri"/>
              </a:rPr>
              <a:t>Réponse</a:t>
            </a:r>
            <a:r>
              <a:rPr sz="2950" spc="-90" dirty="0">
                <a:solidFill>
                  <a:srgbClr val="5B758E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6B7E97"/>
                </a:solidFill>
                <a:latin typeface="Calibri"/>
                <a:cs typeface="Calibri"/>
              </a:rPr>
              <a:t>:</a:t>
            </a:r>
            <a:r>
              <a:rPr sz="2950" spc="-210" dirty="0">
                <a:solidFill>
                  <a:srgbClr val="6B7E97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5D7289"/>
                </a:solidFill>
                <a:latin typeface="Calibri"/>
                <a:cs typeface="Calibri"/>
              </a:rPr>
              <a:t>Une</a:t>
            </a:r>
            <a:r>
              <a:rPr sz="2950" spc="-100" dirty="0">
                <a:solidFill>
                  <a:srgbClr val="5D7289"/>
                </a:solidFill>
                <a:latin typeface="Calibri"/>
                <a:cs typeface="Calibri"/>
              </a:rPr>
              <a:t> </a:t>
            </a:r>
            <a:r>
              <a:rPr sz="2950" spc="-35" dirty="0">
                <a:solidFill>
                  <a:srgbClr val="727272"/>
                </a:solidFill>
                <a:latin typeface="Calibri"/>
                <a:cs typeface="Calibri"/>
              </a:rPr>
              <a:t>plateforme</a:t>
            </a:r>
            <a:r>
              <a:rPr sz="2950" spc="155" dirty="0">
                <a:solidFill>
                  <a:srgbClr val="727272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62728C"/>
                </a:solidFill>
                <a:latin typeface="Calibri"/>
                <a:cs typeface="Calibri"/>
              </a:rPr>
              <a:t>Full</a:t>
            </a:r>
            <a:r>
              <a:rPr sz="2950" spc="-70" dirty="0">
                <a:solidFill>
                  <a:srgbClr val="62728C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727E8A"/>
                </a:solidFill>
                <a:latin typeface="Calibri"/>
                <a:cs typeface="Calibri"/>
              </a:rPr>
              <a:t>Stack</a:t>
            </a:r>
            <a:r>
              <a:rPr sz="2950" spc="-55" dirty="0">
                <a:solidFill>
                  <a:srgbClr val="727E8A"/>
                </a:solidFill>
                <a:latin typeface="Calibri"/>
                <a:cs typeface="Calibri"/>
              </a:rPr>
              <a:t> </a:t>
            </a:r>
            <a:r>
              <a:rPr sz="2950" spc="-35" dirty="0">
                <a:solidFill>
                  <a:srgbClr val="596B7B"/>
                </a:solidFill>
                <a:latin typeface="Calibri"/>
                <a:cs typeface="Calibri"/>
              </a:rPr>
              <a:t>unifiant</a:t>
            </a:r>
            <a:r>
              <a:rPr sz="2950" spc="-105" dirty="0">
                <a:solidFill>
                  <a:srgbClr val="596B7B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707070"/>
                </a:solidFill>
                <a:latin typeface="Calibri"/>
                <a:cs typeface="Calibri"/>
              </a:rPr>
              <a:t>Visiteurs,</a:t>
            </a:r>
            <a:r>
              <a:rPr sz="2950" spc="-25" dirty="0">
                <a:solidFill>
                  <a:srgbClr val="707070"/>
                </a:solidFill>
                <a:latin typeface="Calibri"/>
                <a:cs typeface="Calibri"/>
              </a:rPr>
              <a:t> </a:t>
            </a:r>
            <a:r>
              <a:rPr sz="2950" dirty="0">
                <a:solidFill>
                  <a:srgbClr val="676E83"/>
                </a:solidFill>
                <a:latin typeface="Calibri"/>
                <a:cs typeface="Calibri"/>
              </a:rPr>
              <a:t>Clients,</a:t>
            </a:r>
            <a:r>
              <a:rPr sz="2950" spc="-65" dirty="0">
                <a:solidFill>
                  <a:srgbClr val="676E83"/>
                </a:solidFill>
                <a:latin typeface="Calibri"/>
                <a:cs typeface="Calibri"/>
              </a:rPr>
              <a:t> </a:t>
            </a:r>
            <a:r>
              <a:rPr sz="2950" spc="-10" dirty="0">
                <a:solidFill>
                  <a:srgbClr val="667087"/>
                </a:solidFill>
                <a:latin typeface="Calibri"/>
                <a:cs typeface="Calibri"/>
              </a:rPr>
              <a:t>Chauffeurs</a:t>
            </a:r>
            <a:r>
              <a:rPr sz="2950" spc="160" dirty="0">
                <a:solidFill>
                  <a:srgbClr val="667087"/>
                </a:solidFill>
                <a:latin typeface="Calibri"/>
                <a:cs typeface="Calibri"/>
              </a:rPr>
              <a:t> </a:t>
            </a:r>
            <a:r>
              <a:rPr sz="2950" spc="-10" dirty="0">
                <a:solidFill>
                  <a:srgbClr val="707289"/>
                </a:solidFill>
                <a:latin typeface="Calibri"/>
                <a:cs typeface="Calibri"/>
              </a:rPr>
              <a:t>et</a:t>
            </a:r>
            <a:r>
              <a:rPr sz="2950" spc="-204" dirty="0">
                <a:solidFill>
                  <a:srgbClr val="707289"/>
                </a:solidFill>
                <a:latin typeface="Calibri"/>
                <a:cs typeface="Calibri"/>
              </a:rPr>
              <a:t> </a:t>
            </a:r>
            <a:r>
              <a:rPr sz="2950" spc="-10" dirty="0">
                <a:solidFill>
                  <a:srgbClr val="778795"/>
                </a:solidFill>
                <a:latin typeface="Calibri"/>
                <a:cs typeface="Calibri"/>
              </a:rPr>
              <a:t>Administrateurs.</a:t>
            </a:r>
            <a:endParaRPr sz="2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02511" y="4692265"/>
            <a:ext cx="699135" cy="0"/>
          </a:xfrm>
          <a:custGeom>
            <a:avLst/>
            <a:gdLst/>
            <a:ahLst/>
            <a:cxnLst/>
            <a:rect l="l" t="t" r="r" b="b"/>
            <a:pathLst>
              <a:path w="699135">
                <a:moveTo>
                  <a:pt x="0" y="0"/>
                </a:moveTo>
                <a:lnTo>
                  <a:pt x="698931" y="0"/>
                </a:lnTo>
              </a:path>
            </a:pathLst>
          </a:custGeom>
          <a:ln w="23559">
            <a:solidFill>
              <a:srgbClr val="0C48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7978" y="4601953"/>
            <a:ext cx="832435" cy="75390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24125" y="4601953"/>
            <a:ext cx="918820" cy="7539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08273" y="4633366"/>
            <a:ext cx="832435" cy="659665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6450" spc="125" dirty="0">
                <a:solidFill>
                  <a:srgbClr val="262626"/>
                </a:solidFill>
              </a:rPr>
              <a:t>Fonctionnalités</a:t>
            </a:r>
            <a:r>
              <a:rPr sz="6450" spc="-700" dirty="0">
                <a:solidFill>
                  <a:srgbClr val="262626"/>
                </a:solidFill>
              </a:rPr>
              <a:t> </a:t>
            </a:r>
            <a:r>
              <a:rPr sz="6450" spc="110" dirty="0">
                <a:solidFill>
                  <a:srgbClr val="282828"/>
                </a:solidFill>
              </a:rPr>
              <a:t>Principales</a:t>
            </a:r>
            <a:endParaRPr sz="6450"/>
          </a:p>
        </p:txBody>
      </p:sp>
      <p:sp>
        <p:nvSpPr>
          <p:cNvPr id="7" name="object 7"/>
          <p:cNvSpPr txBox="1"/>
          <p:nvPr/>
        </p:nvSpPr>
        <p:spPr>
          <a:xfrm>
            <a:off x="1586016" y="5624562"/>
            <a:ext cx="4471035" cy="2038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6195" algn="ctr">
              <a:lnSpc>
                <a:spcPct val="100000"/>
              </a:lnSpc>
              <a:spcBef>
                <a:spcPts val="95"/>
              </a:spcBef>
            </a:pPr>
            <a:r>
              <a:rPr sz="4900" spc="-10" dirty="0">
                <a:solidFill>
                  <a:srgbClr val="005287"/>
                </a:solidFill>
                <a:latin typeface="Calibri"/>
                <a:cs typeface="Calibri"/>
              </a:rPr>
              <a:t>Billetterie</a:t>
            </a:r>
            <a:endParaRPr sz="4900" dirty="0">
              <a:latin typeface="Calibri"/>
              <a:cs typeface="Calibri"/>
            </a:endParaRPr>
          </a:p>
          <a:p>
            <a:pPr marL="12700" marR="5080" indent="-1905" algn="ctr">
              <a:lnSpc>
                <a:spcPct val="117800"/>
              </a:lnSpc>
              <a:spcBef>
                <a:spcPts val="2050"/>
              </a:spcBef>
            </a:pPr>
            <a:r>
              <a:rPr sz="2800" spc="-60" dirty="0">
                <a:solidFill>
                  <a:srgbClr val="494949"/>
                </a:solidFill>
                <a:latin typeface="Calibri"/>
                <a:cs typeface="Calibri"/>
              </a:rPr>
              <a:t>Achat</a:t>
            </a:r>
            <a:r>
              <a:rPr sz="2800" spc="-1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444444"/>
                </a:solidFill>
                <a:latin typeface="Calibri"/>
                <a:cs typeface="Calibri"/>
              </a:rPr>
              <a:t>de</a:t>
            </a:r>
            <a:r>
              <a:rPr sz="2800" spc="-10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464646"/>
                </a:solidFill>
                <a:latin typeface="Calibri"/>
                <a:cs typeface="Calibri"/>
              </a:rPr>
              <a:t>tickets</a:t>
            </a:r>
            <a:r>
              <a:rPr sz="280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800" spc="-110" dirty="0" err="1">
                <a:solidFill>
                  <a:srgbClr val="4B4B4B"/>
                </a:solidFill>
                <a:latin typeface="Calibri"/>
                <a:cs typeface="Calibri"/>
              </a:rPr>
              <a:t>en</a:t>
            </a:r>
            <a:r>
              <a:rPr sz="2800" spc="-18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800" spc="-90" dirty="0" err="1">
                <a:solidFill>
                  <a:srgbClr val="464646"/>
                </a:solidFill>
                <a:latin typeface="Calibri"/>
                <a:cs typeface="Calibri"/>
              </a:rPr>
              <a:t>Iigne</a:t>
            </a:r>
            <a:r>
              <a:rPr sz="2800" spc="-14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800" spc="-60" dirty="0">
                <a:solidFill>
                  <a:srgbClr val="444444"/>
                </a:solidFill>
                <a:latin typeface="Calibri"/>
                <a:cs typeface="Calibri"/>
              </a:rPr>
              <a:t>suivi</a:t>
            </a:r>
            <a:r>
              <a:rPr sz="2800" spc="-13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4F4F4F"/>
                </a:solidFill>
                <a:latin typeface="Calibri"/>
                <a:cs typeface="Calibri"/>
              </a:rPr>
              <a:t>de</a:t>
            </a:r>
            <a:r>
              <a:rPr sz="2800" spc="-22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800" spc="-85" dirty="0">
                <a:solidFill>
                  <a:srgbClr val="444444"/>
                </a:solidFill>
                <a:latin typeface="Calibri"/>
                <a:cs typeface="Calibri"/>
              </a:rPr>
              <a:t>profil</a:t>
            </a:r>
            <a:r>
              <a:rPr sz="2800" spc="-5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800" spc="-85" dirty="0">
                <a:solidFill>
                  <a:srgbClr val="444444"/>
                </a:solidFill>
                <a:latin typeface="Calibri"/>
                <a:cs typeface="Calibri"/>
              </a:rPr>
              <a:t>client.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29281" y="5624562"/>
            <a:ext cx="4442460" cy="2541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3975" algn="ctr">
              <a:lnSpc>
                <a:spcPct val="100000"/>
              </a:lnSpc>
              <a:spcBef>
                <a:spcPts val="95"/>
              </a:spcBef>
            </a:pPr>
            <a:r>
              <a:rPr sz="4900" spc="-10" dirty="0">
                <a:solidFill>
                  <a:srgbClr val="00528E"/>
                </a:solidFill>
                <a:latin typeface="Calibri"/>
                <a:cs typeface="Calibri"/>
              </a:rPr>
              <a:t>Itinéraires</a:t>
            </a:r>
            <a:endParaRPr sz="4900">
              <a:latin typeface="Calibri"/>
              <a:cs typeface="Calibri"/>
            </a:endParaRPr>
          </a:p>
          <a:p>
            <a:pPr marL="12700" marR="5080" indent="-10795" algn="ctr">
              <a:lnSpc>
                <a:spcPct val="117800"/>
              </a:lnSpc>
              <a:spcBef>
                <a:spcPts val="2050"/>
              </a:spcBef>
            </a:pPr>
            <a:r>
              <a:rPr sz="2800" spc="-65" dirty="0">
                <a:solidFill>
                  <a:srgbClr val="383838"/>
                </a:solidFill>
                <a:latin typeface="Calibri"/>
                <a:cs typeface="Calibri"/>
              </a:rPr>
              <a:t>Consultation</a:t>
            </a:r>
            <a:r>
              <a:rPr sz="2800" spc="-5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135" dirty="0">
                <a:solidFill>
                  <a:srgbClr val="464646"/>
                </a:solidFill>
                <a:latin typeface="Calibri"/>
                <a:cs typeface="Calibri"/>
              </a:rPr>
              <a:t>dynamique</a:t>
            </a:r>
            <a:r>
              <a:rPr sz="2800" spc="-2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4D4D4D"/>
                </a:solidFill>
                <a:latin typeface="Calibri"/>
                <a:cs typeface="Calibri"/>
              </a:rPr>
              <a:t>des </a:t>
            </a:r>
            <a:r>
              <a:rPr sz="2800" spc="-90" dirty="0">
                <a:solidFill>
                  <a:srgbClr val="4B4B4B"/>
                </a:solidFill>
                <a:latin typeface="Calibri"/>
                <a:cs typeface="Calibri"/>
              </a:rPr>
              <a:t>lignes,</a:t>
            </a:r>
            <a:r>
              <a:rPr sz="2800" spc="-12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4B4B4B"/>
                </a:solidFill>
                <a:latin typeface="Calibri"/>
                <a:cs typeface="Calibri"/>
              </a:rPr>
              <a:t>arrêts</a:t>
            </a:r>
            <a:r>
              <a:rPr sz="2800" spc="-6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464646"/>
                </a:solidFill>
                <a:latin typeface="Calibri"/>
                <a:cs typeface="Calibri"/>
              </a:rPr>
              <a:t>et</a:t>
            </a:r>
            <a:r>
              <a:rPr sz="2800" spc="-16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800" spc="-90" dirty="0">
                <a:solidFill>
                  <a:srgbClr val="494949"/>
                </a:solidFill>
                <a:latin typeface="Calibri"/>
                <a:cs typeface="Calibri"/>
              </a:rPr>
              <a:t>alertes</a:t>
            </a:r>
            <a:r>
              <a:rPr sz="2800" spc="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800" spc="-100" dirty="0">
                <a:solidFill>
                  <a:srgbClr val="494949"/>
                </a:solidFill>
                <a:latin typeface="Calibri"/>
                <a:cs typeface="Calibri"/>
              </a:rPr>
              <a:t>réseau</a:t>
            </a:r>
            <a:r>
              <a:rPr sz="2800" spc="-1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800" spc="-45" dirty="0">
                <a:solidFill>
                  <a:srgbClr val="4D4D4D"/>
                </a:solidFill>
                <a:latin typeface="Calibri"/>
                <a:cs typeface="Calibri"/>
              </a:rPr>
              <a:t>en </a:t>
            </a:r>
            <a:r>
              <a:rPr sz="2800" spc="-160" dirty="0">
                <a:solidFill>
                  <a:srgbClr val="464646"/>
                </a:solidFill>
                <a:latin typeface="Calibri"/>
                <a:cs typeface="Calibri"/>
              </a:rPr>
              <a:t>temps</a:t>
            </a:r>
            <a:r>
              <a:rPr sz="2800" spc="1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64646"/>
                </a:solidFill>
                <a:latin typeface="Calibri"/>
                <a:cs typeface="Calibri"/>
              </a:rPr>
              <a:t>réel.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151078" y="5640923"/>
            <a:ext cx="4218305" cy="25247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114"/>
              </a:spcBef>
            </a:pPr>
            <a:r>
              <a:rPr sz="4750" spc="200" dirty="0">
                <a:solidFill>
                  <a:srgbClr val="005089"/>
                </a:solidFill>
                <a:latin typeface="Calibri"/>
                <a:cs typeface="Calibri"/>
              </a:rPr>
              <a:t>Back-</a:t>
            </a:r>
            <a:r>
              <a:rPr sz="4750" spc="175" dirty="0">
                <a:solidFill>
                  <a:srgbClr val="005089"/>
                </a:solidFill>
                <a:latin typeface="Calibri"/>
                <a:cs typeface="Calibri"/>
              </a:rPr>
              <a:t>Office</a:t>
            </a:r>
            <a:endParaRPr sz="4750">
              <a:latin typeface="Calibri"/>
              <a:cs typeface="Calibri"/>
            </a:endParaRPr>
          </a:p>
          <a:p>
            <a:pPr marL="12700" marR="5080" indent="26670" algn="ctr">
              <a:lnSpc>
                <a:spcPct val="117800"/>
              </a:lnSpc>
              <a:spcBef>
                <a:spcPts val="2085"/>
              </a:spcBef>
            </a:pPr>
            <a:r>
              <a:rPr sz="2800" spc="-80" dirty="0">
                <a:solidFill>
                  <a:srgbClr val="494949"/>
                </a:solidFill>
                <a:latin typeface="Calibri"/>
                <a:cs typeface="Calibri"/>
              </a:rPr>
              <a:t>Gestion</a:t>
            </a:r>
            <a:r>
              <a:rPr sz="2800" spc="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800" spc="-135" dirty="0">
                <a:solidFill>
                  <a:srgbClr val="4D4D4D"/>
                </a:solidFill>
                <a:latin typeface="Calibri"/>
                <a:cs typeface="Calibri"/>
              </a:rPr>
              <a:t>complète</a:t>
            </a:r>
            <a:r>
              <a:rPr sz="280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(CRUD)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494949"/>
                </a:solidFill>
                <a:latin typeface="Calibri"/>
                <a:cs typeface="Calibri"/>
              </a:rPr>
              <a:t>des </a:t>
            </a:r>
            <a:r>
              <a:rPr sz="2800" spc="-90" dirty="0">
                <a:solidFill>
                  <a:srgbClr val="464646"/>
                </a:solidFill>
                <a:latin typeface="Calibri"/>
                <a:cs typeface="Calibri"/>
              </a:rPr>
              <a:t>lignes,</a:t>
            </a:r>
            <a:r>
              <a:rPr sz="2800" spc="-12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800" spc="-100" dirty="0">
                <a:solidFill>
                  <a:srgbClr val="494949"/>
                </a:solidFill>
                <a:latin typeface="Calibri"/>
                <a:cs typeface="Calibri"/>
              </a:rPr>
              <a:t>actualités</a:t>
            </a:r>
            <a:r>
              <a:rPr sz="2800" spc="5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4F4F4F"/>
                </a:solidFill>
                <a:latin typeface="Calibri"/>
                <a:cs typeface="Calibri"/>
              </a:rPr>
              <a:t>et</a:t>
            </a:r>
            <a:r>
              <a:rPr sz="2800" spc="-16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800" spc="-90" dirty="0">
                <a:solidFill>
                  <a:srgbClr val="444444"/>
                </a:solidFill>
                <a:latin typeface="Calibri"/>
                <a:cs typeface="Calibri"/>
              </a:rPr>
              <a:t>affectations </a:t>
            </a:r>
            <a:r>
              <a:rPr sz="2800" spc="-10" dirty="0">
                <a:solidFill>
                  <a:srgbClr val="414141"/>
                </a:solidFill>
                <a:latin typeface="Calibri"/>
                <a:cs typeface="Calibri"/>
              </a:rPr>
              <a:t>chauffeurs.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372507" y="834132"/>
            <a:ext cx="9847580" cy="96308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pc="-225" dirty="0">
                <a:solidFill>
                  <a:srgbClr val="232323"/>
                </a:solidFill>
                <a:latin typeface="Arial MT"/>
                <a:cs typeface="Arial MT"/>
              </a:rPr>
              <a:t>C</a:t>
            </a:r>
            <a:r>
              <a:rPr lang="fr-FR" spc="-225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pc="-225" dirty="0">
                <a:solidFill>
                  <a:srgbClr val="232323"/>
                </a:solidFill>
                <a:latin typeface="Arial MT"/>
                <a:cs typeface="Arial MT"/>
              </a:rPr>
              <a:t>s</a:t>
            </a:r>
            <a:r>
              <a:rPr spc="-37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232323"/>
                </a:solidFill>
                <a:latin typeface="Arial MT"/>
                <a:cs typeface="Arial MT"/>
              </a:rPr>
              <a:t>d'Utilisotion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4384" y="2491804"/>
            <a:ext cx="8108315" cy="15087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14"/>
              </a:spcBef>
            </a:pPr>
            <a:r>
              <a:rPr sz="4750" spc="120" dirty="0">
                <a:solidFill>
                  <a:srgbClr val="004F85"/>
                </a:solidFill>
                <a:latin typeface="Calibri"/>
                <a:cs typeface="Calibri"/>
              </a:rPr>
              <a:t>Acteurs</a:t>
            </a:r>
            <a:r>
              <a:rPr sz="4750" spc="15" dirty="0">
                <a:solidFill>
                  <a:srgbClr val="004F85"/>
                </a:solidFill>
                <a:latin typeface="Calibri"/>
                <a:cs typeface="Calibri"/>
              </a:rPr>
              <a:t> </a:t>
            </a:r>
            <a:r>
              <a:rPr sz="4750" spc="145" dirty="0">
                <a:solidFill>
                  <a:srgbClr val="034F82"/>
                </a:solidFill>
                <a:latin typeface="Calibri"/>
                <a:cs typeface="Calibri"/>
              </a:rPr>
              <a:t>du</a:t>
            </a:r>
            <a:r>
              <a:rPr sz="4750" spc="55" dirty="0">
                <a:solidFill>
                  <a:srgbClr val="034F82"/>
                </a:solidFill>
                <a:latin typeface="Calibri"/>
                <a:cs typeface="Calibri"/>
              </a:rPr>
              <a:t> </a:t>
            </a:r>
            <a:r>
              <a:rPr sz="4750" spc="145" dirty="0">
                <a:solidFill>
                  <a:srgbClr val="005493"/>
                </a:solidFill>
                <a:latin typeface="Calibri"/>
                <a:cs typeface="Calibri"/>
              </a:rPr>
              <a:t>Système</a:t>
            </a:r>
            <a:endParaRPr sz="4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20"/>
              </a:spcBef>
            </a:pPr>
            <a:r>
              <a:rPr sz="2700" dirty="0">
                <a:solidFill>
                  <a:srgbClr val="444444"/>
                </a:solidFill>
                <a:latin typeface="Calibri"/>
                <a:cs typeface="Calibri"/>
              </a:rPr>
              <a:t>Le</a:t>
            </a:r>
            <a:r>
              <a:rPr sz="2700" spc="-22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700" spc="-80" dirty="0">
                <a:solidFill>
                  <a:srgbClr val="464646"/>
                </a:solidFill>
                <a:latin typeface="Calibri"/>
                <a:cs typeface="Calibri"/>
              </a:rPr>
              <a:t>diagramme</a:t>
            </a:r>
            <a:r>
              <a:rPr sz="2700" spc="-7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444444"/>
                </a:solidFill>
                <a:latin typeface="Calibri"/>
                <a:cs typeface="Calibri"/>
              </a:rPr>
              <a:t>illustre</a:t>
            </a:r>
            <a:r>
              <a:rPr sz="2700" spc="-12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4D4D4D"/>
                </a:solidFill>
                <a:latin typeface="Calibri"/>
                <a:cs typeface="Calibri"/>
              </a:rPr>
              <a:t>les</a:t>
            </a:r>
            <a:r>
              <a:rPr sz="2700" spc="-9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700" spc="-45" dirty="0">
                <a:solidFill>
                  <a:srgbClr val="444444"/>
                </a:solidFill>
                <a:latin typeface="Calibri"/>
                <a:cs typeface="Calibri"/>
              </a:rPr>
              <a:t>interactions</a:t>
            </a:r>
            <a:r>
              <a:rPr sz="2700" spc="5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700" spc="-35" dirty="0">
                <a:solidFill>
                  <a:srgbClr val="4B4B4B"/>
                </a:solidFill>
                <a:latin typeface="Calibri"/>
                <a:cs typeface="Calibri"/>
              </a:rPr>
              <a:t>pour</a:t>
            </a:r>
            <a:r>
              <a:rPr sz="2700" spc="-5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700" spc="120" dirty="0">
                <a:solidFill>
                  <a:srgbClr val="545454"/>
                </a:solidFill>
                <a:latin typeface="Calibri"/>
                <a:cs typeface="Calibri"/>
              </a:rPr>
              <a:t>4</a:t>
            </a:r>
            <a:r>
              <a:rPr sz="2700" spc="-150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2700" spc="-30" dirty="0">
                <a:solidFill>
                  <a:srgbClr val="4D4D4D"/>
                </a:solidFill>
                <a:latin typeface="Calibri"/>
                <a:cs typeface="Calibri"/>
              </a:rPr>
              <a:t>profils</a:t>
            </a:r>
            <a:r>
              <a:rPr sz="2700" spc="-8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494949"/>
                </a:solidFill>
                <a:latin typeface="Calibri"/>
                <a:cs typeface="Calibri"/>
              </a:rPr>
              <a:t>distincts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50289" y="5054554"/>
            <a:ext cx="5697855" cy="2887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sz="2700" spc="100" dirty="0">
                <a:solidFill>
                  <a:srgbClr val="415269"/>
                </a:solidFill>
                <a:latin typeface="Calibri"/>
                <a:cs typeface="Calibri"/>
              </a:rPr>
              <a:t>Visiteur</a:t>
            </a:r>
            <a:r>
              <a:rPr sz="2700" spc="100" dirty="0">
                <a:solidFill>
                  <a:srgbClr val="444444"/>
                </a:solidFill>
                <a:latin typeface="Calibri"/>
                <a:cs typeface="Calibri"/>
              </a:rPr>
              <a:t>:</a:t>
            </a:r>
            <a:r>
              <a:rPr sz="2700" spc="-33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4B4B4B"/>
                </a:solidFill>
                <a:latin typeface="Calibri"/>
                <a:cs typeface="Calibri"/>
              </a:rPr>
              <a:t>Consultation</a:t>
            </a:r>
            <a:r>
              <a:rPr sz="2700" spc="-1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464646"/>
                </a:solidFill>
                <a:latin typeface="Calibri"/>
                <a:cs typeface="Calibri"/>
              </a:rPr>
              <a:t>publique.</a:t>
            </a:r>
            <a:endParaRPr sz="2700">
              <a:latin typeface="Calibri"/>
              <a:cs typeface="Calibri"/>
            </a:endParaRPr>
          </a:p>
          <a:p>
            <a:pPr marL="12700" marR="5080">
              <a:lnSpc>
                <a:spcPct val="207700"/>
              </a:lnSpc>
              <a:spcBef>
                <a:spcPts val="45"/>
              </a:spcBef>
            </a:pPr>
            <a:r>
              <a:rPr sz="2550" spc="65" dirty="0">
                <a:solidFill>
                  <a:srgbClr val="4D4D4D"/>
                </a:solidFill>
                <a:latin typeface="Calibri"/>
                <a:cs typeface="Calibri"/>
              </a:rPr>
              <a:t>Client</a:t>
            </a:r>
            <a:r>
              <a:rPr sz="2550" spc="-1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3B3B3B"/>
                </a:solidFill>
                <a:latin typeface="Calibri"/>
                <a:cs typeface="Calibri"/>
              </a:rPr>
              <a:t>:</a:t>
            </a:r>
            <a:r>
              <a:rPr sz="2550" spc="-1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50" spc="65" dirty="0">
                <a:solidFill>
                  <a:srgbClr val="464646"/>
                </a:solidFill>
                <a:latin typeface="Calibri"/>
                <a:cs typeface="Calibri"/>
              </a:rPr>
              <a:t>Achat</a:t>
            </a:r>
            <a:r>
              <a:rPr sz="2550" spc="-8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4B4B4B"/>
                </a:solidFill>
                <a:latin typeface="Calibri"/>
                <a:cs typeface="Calibri"/>
              </a:rPr>
              <a:t>et</a:t>
            </a:r>
            <a:r>
              <a:rPr sz="2550" spc="-9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444444"/>
                </a:solidFill>
                <a:latin typeface="Calibri"/>
                <a:cs typeface="Calibri"/>
              </a:rPr>
              <a:t>authentification. </a:t>
            </a:r>
            <a:r>
              <a:rPr sz="2550" spc="105" dirty="0">
                <a:solidFill>
                  <a:srgbClr val="383838"/>
                </a:solidFill>
                <a:latin typeface="Calibri"/>
                <a:cs typeface="Calibri"/>
              </a:rPr>
              <a:t>Chauffeur:</a:t>
            </a:r>
            <a:r>
              <a:rPr sz="2550" spc="14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4B4B4B"/>
                </a:solidFill>
                <a:latin typeface="Calibri"/>
                <a:cs typeface="Calibri"/>
              </a:rPr>
              <a:t>Affectations</a:t>
            </a:r>
            <a:r>
              <a:rPr sz="2550" spc="35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464646"/>
                </a:solidFill>
                <a:latin typeface="Calibri"/>
                <a:cs typeface="Calibri"/>
              </a:rPr>
              <a:t>professionnelles. </a:t>
            </a:r>
            <a:r>
              <a:rPr sz="2700" spc="60" dirty="0">
                <a:solidFill>
                  <a:srgbClr val="445666"/>
                </a:solidFill>
                <a:latin typeface="Calibri"/>
                <a:cs typeface="Calibri"/>
              </a:rPr>
              <a:t>Admin:</a:t>
            </a:r>
            <a:r>
              <a:rPr sz="2700" spc="-135" dirty="0">
                <a:solidFill>
                  <a:srgbClr val="445666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4D4D4D"/>
                </a:solidFill>
                <a:latin typeface="Calibri"/>
                <a:cs typeface="Calibri"/>
              </a:rPr>
              <a:t>Gestion</a:t>
            </a:r>
            <a:r>
              <a:rPr sz="2700" spc="-2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700" spc="-65" dirty="0">
                <a:solidFill>
                  <a:srgbClr val="4D4D4D"/>
                </a:solidFill>
                <a:latin typeface="Calibri"/>
                <a:cs typeface="Calibri"/>
              </a:rPr>
              <a:t>totale</a:t>
            </a:r>
            <a:r>
              <a:rPr sz="2700" spc="-18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3F5974"/>
                </a:solidFill>
                <a:latin typeface="Calibri"/>
                <a:cs typeface="Calibri"/>
              </a:rPr>
              <a:t>du</a:t>
            </a:r>
            <a:r>
              <a:rPr sz="2700" spc="-135" dirty="0">
                <a:solidFill>
                  <a:srgbClr val="3F5974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383838"/>
                </a:solidFill>
                <a:latin typeface="Calibri"/>
                <a:cs typeface="Calibri"/>
              </a:rPr>
              <a:t>système.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9410230E-E3E7-BE51-F0F2-173C8E7D7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58750" y="-1965325"/>
            <a:ext cx="20262850" cy="1313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039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90"/>
              </a:spcBef>
            </a:pPr>
            <a:r>
              <a:rPr sz="6450" dirty="0">
                <a:solidFill>
                  <a:srgbClr val="282828"/>
                </a:solidFill>
              </a:rPr>
              <a:t>Architecture</a:t>
            </a:r>
            <a:r>
              <a:rPr sz="6450" spc="-60" dirty="0">
                <a:solidFill>
                  <a:srgbClr val="282828"/>
                </a:solidFill>
              </a:rPr>
              <a:t> </a:t>
            </a:r>
            <a:r>
              <a:rPr sz="6450" spc="145" dirty="0">
                <a:solidFill>
                  <a:srgbClr val="212121"/>
                </a:solidFill>
              </a:rPr>
              <a:t>des</a:t>
            </a:r>
            <a:r>
              <a:rPr sz="6450" spc="-280" dirty="0">
                <a:solidFill>
                  <a:srgbClr val="212121"/>
                </a:solidFill>
              </a:rPr>
              <a:t> </a:t>
            </a:r>
            <a:r>
              <a:rPr sz="6450" spc="-10" dirty="0">
                <a:solidFill>
                  <a:srgbClr val="212121"/>
                </a:solidFill>
              </a:rPr>
              <a:t>Données</a:t>
            </a:r>
            <a:endParaRPr sz="6450"/>
          </a:p>
        </p:txBody>
      </p:sp>
      <p:sp>
        <p:nvSpPr>
          <p:cNvPr id="3" name="object 3"/>
          <p:cNvSpPr txBox="1"/>
          <p:nvPr/>
        </p:nvSpPr>
        <p:spPr>
          <a:xfrm>
            <a:off x="5793422" y="2682875"/>
            <a:ext cx="8517255" cy="20142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750" dirty="0">
                <a:solidFill>
                  <a:srgbClr val="005279"/>
                </a:solidFill>
                <a:latin typeface="Calibri"/>
                <a:cs typeface="Calibri"/>
              </a:rPr>
              <a:t>Modèle</a:t>
            </a:r>
            <a:r>
              <a:rPr sz="4750" spc="-60" dirty="0">
                <a:solidFill>
                  <a:srgbClr val="005279"/>
                </a:solidFill>
                <a:latin typeface="Calibri"/>
                <a:cs typeface="Calibri"/>
              </a:rPr>
              <a:t> </a:t>
            </a:r>
            <a:r>
              <a:rPr sz="4750" spc="190" dirty="0">
                <a:solidFill>
                  <a:srgbClr val="034D85"/>
                </a:solidFill>
                <a:latin typeface="Calibri"/>
                <a:cs typeface="Calibri"/>
              </a:rPr>
              <a:t>de</a:t>
            </a:r>
            <a:r>
              <a:rPr sz="4750" spc="-405" dirty="0">
                <a:solidFill>
                  <a:srgbClr val="034D85"/>
                </a:solidFill>
                <a:latin typeface="Calibri"/>
                <a:cs typeface="Calibri"/>
              </a:rPr>
              <a:t> </a:t>
            </a:r>
            <a:r>
              <a:rPr sz="4750" spc="80" dirty="0">
                <a:solidFill>
                  <a:srgbClr val="004F87"/>
                </a:solidFill>
                <a:latin typeface="Calibri"/>
                <a:cs typeface="Calibri"/>
              </a:rPr>
              <a:t>Données</a:t>
            </a:r>
            <a:endParaRPr sz="4750">
              <a:latin typeface="Calibri"/>
              <a:cs typeface="Calibri"/>
            </a:endParaRPr>
          </a:p>
          <a:p>
            <a:pPr marL="24130" marR="5080" indent="1270">
              <a:lnSpc>
                <a:spcPct val="117800"/>
              </a:lnSpc>
              <a:spcBef>
                <a:spcPts val="2020"/>
              </a:spcBef>
            </a:pPr>
            <a:r>
              <a:rPr sz="2800" spc="-50" dirty="0">
                <a:solidFill>
                  <a:srgbClr val="484848"/>
                </a:solidFill>
                <a:latin typeface="Calibri"/>
                <a:cs typeface="Calibri"/>
              </a:rPr>
              <a:t>Une</a:t>
            </a:r>
            <a:r>
              <a:rPr sz="2800" spc="-204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800" spc="-70" dirty="0">
                <a:solidFill>
                  <a:srgbClr val="444444"/>
                </a:solidFill>
                <a:latin typeface="Calibri"/>
                <a:cs typeface="Calibri"/>
              </a:rPr>
              <a:t>structure</a:t>
            </a:r>
            <a:r>
              <a:rPr sz="2800" spc="-2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800" spc="-95" dirty="0">
                <a:solidFill>
                  <a:srgbClr val="464646"/>
                </a:solidFill>
                <a:latin typeface="Calibri"/>
                <a:cs typeface="Calibri"/>
              </a:rPr>
              <a:t>relationnelle</a:t>
            </a:r>
            <a:r>
              <a:rPr sz="2800" spc="-4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800" spc="-95" dirty="0">
                <a:solidFill>
                  <a:srgbClr val="424242"/>
                </a:solidFill>
                <a:latin typeface="Calibri"/>
                <a:cs typeface="Calibri"/>
              </a:rPr>
              <a:t>robuste</a:t>
            </a:r>
            <a:r>
              <a:rPr sz="2800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spc="-100" dirty="0">
                <a:solidFill>
                  <a:srgbClr val="414141"/>
                </a:solidFill>
                <a:latin typeface="Calibri"/>
                <a:cs typeface="Calibri"/>
              </a:rPr>
              <a:t>articulée</a:t>
            </a:r>
            <a:r>
              <a:rPr sz="2800" spc="-35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2800" spc="-120" dirty="0">
                <a:solidFill>
                  <a:srgbClr val="464646"/>
                </a:solidFill>
                <a:latin typeface="Calibri"/>
                <a:cs typeface="Calibri"/>
              </a:rPr>
              <a:t>autour</a:t>
            </a:r>
            <a:r>
              <a:rPr sz="2800" spc="-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800" spc="-105" dirty="0">
                <a:solidFill>
                  <a:srgbClr val="424242"/>
                </a:solidFill>
                <a:latin typeface="Calibri"/>
                <a:cs typeface="Calibri"/>
              </a:rPr>
              <a:t>des </a:t>
            </a:r>
            <a:r>
              <a:rPr sz="2800" spc="-75" dirty="0">
                <a:solidFill>
                  <a:srgbClr val="484848"/>
                </a:solidFill>
                <a:latin typeface="Calibri"/>
                <a:cs typeface="Calibri"/>
              </a:rPr>
              <a:t>entités </a:t>
            </a:r>
            <a:r>
              <a:rPr sz="2800" spc="-10" dirty="0">
                <a:solidFill>
                  <a:srgbClr val="464646"/>
                </a:solidFill>
                <a:latin typeface="Calibri"/>
                <a:cs typeface="Calibri"/>
              </a:rPr>
              <a:t>clés: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28287" y="5010030"/>
            <a:ext cx="445516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145" dirty="0">
                <a:solidFill>
                  <a:srgbClr val="4B4B4B"/>
                </a:solidFill>
                <a:latin typeface="Calibri"/>
                <a:cs typeface="Calibri"/>
              </a:rPr>
              <a:t>User:</a:t>
            </a:r>
            <a:r>
              <a:rPr sz="2700" spc="-15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424242"/>
                </a:solidFill>
                <a:latin typeface="Calibri"/>
                <a:cs typeface="Calibri"/>
              </a:rPr>
              <a:t>Gestion</a:t>
            </a:r>
            <a:r>
              <a:rPr sz="2700" spc="-1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424242"/>
                </a:solidFill>
                <a:latin typeface="Calibri"/>
                <a:cs typeface="Calibri"/>
              </a:rPr>
              <a:t>des</a:t>
            </a:r>
            <a:r>
              <a:rPr sz="2700" spc="-8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700" spc="-30" dirty="0">
                <a:solidFill>
                  <a:srgbClr val="484848"/>
                </a:solidFill>
                <a:latin typeface="Calibri"/>
                <a:cs typeface="Calibri"/>
              </a:rPr>
              <a:t>rôles</a:t>
            </a:r>
            <a:r>
              <a:rPr sz="2700" spc="-10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700" spc="-30" dirty="0">
                <a:solidFill>
                  <a:srgbClr val="494949"/>
                </a:solidFill>
                <a:latin typeface="Calibri"/>
                <a:cs typeface="Calibri"/>
              </a:rPr>
              <a:t>et</a:t>
            </a:r>
            <a:r>
              <a:rPr sz="2700" spc="-15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424242"/>
                </a:solidFill>
                <a:latin typeface="Calibri"/>
                <a:cs typeface="Calibri"/>
              </a:rPr>
              <a:t>accès.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35807" y="5826759"/>
            <a:ext cx="462343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0" dirty="0">
                <a:solidFill>
                  <a:srgbClr val="465467"/>
                </a:solidFill>
                <a:latin typeface="Calibri"/>
                <a:cs typeface="Calibri"/>
              </a:rPr>
              <a:t>Ligne</a:t>
            </a:r>
            <a:r>
              <a:rPr sz="2700" spc="-114" dirty="0">
                <a:solidFill>
                  <a:srgbClr val="465467"/>
                </a:solidFill>
                <a:latin typeface="Calibri"/>
                <a:cs typeface="Calibri"/>
              </a:rPr>
              <a:t> </a:t>
            </a:r>
            <a:r>
              <a:rPr sz="2700" spc="125" dirty="0">
                <a:solidFill>
                  <a:srgbClr val="42526B"/>
                </a:solidFill>
                <a:latin typeface="Calibri"/>
                <a:cs typeface="Calibri"/>
              </a:rPr>
              <a:t>&amp;</a:t>
            </a:r>
            <a:r>
              <a:rPr sz="2700" spc="-320" dirty="0">
                <a:solidFill>
                  <a:srgbClr val="42526B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4D5B6B"/>
                </a:solidFill>
                <a:latin typeface="Calibri"/>
                <a:cs typeface="Calibri"/>
              </a:rPr>
              <a:t>Itinéraire</a:t>
            </a:r>
            <a:r>
              <a:rPr sz="2700" spc="-55" dirty="0">
                <a:solidFill>
                  <a:srgbClr val="4D5B6B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4D4D4D"/>
                </a:solidFill>
                <a:latin typeface="Calibri"/>
                <a:cs typeface="Calibri"/>
              </a:rPr>
              <a:t>:</a:t>
            </a:r>
            <a:r>
              <a:rPr sz="2700" spc="-9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700" spc="-45" dirty="0">
                <a:solidFill>
                  <a:srgbClr val="464646"/>
                </a:solidFill>
                <a:latin typeface="Calibri"/>
                <a:cs typeface="Calibri"/>
              </a:rPr>
              <a:t>Réseau</a:t>
            </a:r>
            <a:r>
              <a:rPr sz="2700" spc="-11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700" spc="-50" dirty="0">
                <a:solidFill>
                  <a:srgbClr val="464646"/>
                </a:solidFill>
                <a:latin typeface="Calibri"/>
                <a:cs typeface="Calibri"/>
              </a:rPr>
              <a:t>de</a:t>
            </a:r>
            <a:r>
              <a:rPr sz="2700" spc="-15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464646"/>
                </a:solidFill>
                <a:latin typeface="Calibri"/>
                <a:cs typeface="Calibri"/>
              </a:rPr>
              <a:t>bus.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35202" y="6643487"/>
            <a:ext cx="4879975" cy="12547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5"/>
              </a:spcBef>
            </a:pPr>
            <a:r>
              <a:rPr sz="2700" spc="95" dirty="0">
                <a:solidFill>
                  <a:srgbClr val="4D4D4D"/>
                </a:solidFill>
                <a:latin typeface="Calibri"/>
                <a:cs typeface="Calibri"/>
              </a:rPr>
              <a:t>Ticket:</a:t>
            </a:r>
            <a:r>
              <a:rPr sz="2700" spc="-13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700" spc="-40" dirty="0">
                <a:solidFill>
                  <a:srgbClr val="424242"/>
                </a:solidFill>
                <a:latin typeface="Calibri"/>
                <a:cs typeface="Calibri"/>
              </a:rPr>
              <a:t>Transactions</a:t>
            </a:r>
            <a:r>
              <a:rPr sz="2700" spc="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700" spc="-30" dirty="0">
                <a:solidFill>
                  <a:srgbClr val="464646"/>
                </a:solidFill>
                <a:latin typeface="Calibri"/>
                <a:cs typeface="Calibri"/>
              </a:rPr>
              <a:t>et</a:t>
            </a:r>
            <a:r>
              <a:rPr sz="2700" spc="-204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464646"/>
                </a:solidFill>
                <a:latin typeface="Calibri"/>
                <a:cs typeface="Calibri"/>
              </a:rPr>
              <a:t>validité.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90"/>
              </a:spcBef>
            </a:pPr>
            <a:r>
              <a:rPr sz="2700" dirty="0">
                <a:solidFill>
                  <a:srgbClr val="525B70"/>
                </a:solidFill>
                <a:latin typeface="Calibri"/>
                <a:cs typeface="Calibri"/>
              </a:rPr>
              <a:t>Alerte</a:t>
            </a:r>
            <a:r>
              <a:rPr sz="2700" spc="15" dirty="0">
                <a:solidFill>
                  <a:srgbClr val="525B70"/>
                </a:solidFill>
                <a:latin typeface="Calibri"/>
                <a:cs typeface="Calibri"/>
              </a:rPr>
              <a:t> </a:t>
            </a:r>
            <a:r>
              <a:rPr sz="2700" spc="55" dirty="0">
                <a:solidFill>
                  <a:srgbClr val="424F5E"/>
                </a:solidFill>
                <a:latin typeface="Calibri"/>
                <a:cs typeface="Calibri"/>
              </a:rPr>
              <a:t>&amp;</a:t>
            </a:r>
            <a:r>
              <a:rPr sz="2700" spc="-180" dirty="0">
                <a:solidFill>
                  <a:srgbClr val="424F5E"/>
                </a:solidFill>
                <a:latin typeface="Calibri"/>
                <a:cs typeface="Calibri"/>
              </a:rPr>
              <a:t> </a:t>
            </a:r>
            <a:r>
              <a:rPr sz="2700" spc="145" dirty="0">
                <a:solidFill>
                  <a:srgbClr val="464646"/>
                </a:solidFill>
                <a:latin typeface="Calibri"/>
                <a:cs typeface="Calibri"/>
              </a:rPr>
              <a:t>Actu:</a:t>
            </a:r>
            <a:r>
              <a:rPr sz="2700" spc="-10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444444"/>
                </a:solidFill>
                <a:latin typeface="Calibri"/>
                <a:cs typeface="Calibri"/>
              </a:rPr>
              <a:t>Flux</a:t>
            </a:r>
            <a:r>
              <a:rPr sz="2700" spc="-6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424242"/>
                </a:solidFill>
                <a:latin typeface="Calibri"/>
                <a:cs typeface="Calibri"/>
              </a:rPr>
              <a:t>d'informations.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417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6050" dirty="0">
                <a:solidFill>
                  <a:srgbClr val="2A2A2A"/>
                </a:solidFill>
                <a:latin typeface="Arial MT"/>
                <a:cs typeface="Arial MT"/>
              </a:rPr>
              <a:t>Choix</a:t>
            </a:r>
            <a:r>
              <a:rPr sz="6050" spc="-37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6050" spc="-10" dirty="0">
                <a:latin typeface="Arial MT"/>
                <a:cs typeface="Arial MT"/>
              </a:rPr>
              <a:t>Technologiques</a:t>
            </a:r>
            <a:endParaRPr sz="6050">
              <a:latin typeface="Arial MT"/>
              <a:cs typeface="Arial MT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A6B16AD-BDBF-2C33-3105-DC45AA3A0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23141"/>
              </p:ext>
            </p:extLst>
          </p:nvPr>
        </p:nvGraphicFramePr>
        <p:xfrm>
          <a:off x="679450" y="2589869"/>
          <a:ext cx="18745200" cy="717960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248400">
                  <a:extLst>
                    <a:ext uri="{9D8B030D-6E8A-4147-A177-3AD203B41FA5}">
                      <a16:colId xmlns:a16="http://schemas.microsoft.com/office/drawing/2014/main" val="4026557282"/>
                    </a:ext>
                  </a:extLst>
                </a:gridCol>
                <a:gridCol w="6248400">
                  <a:extLst>
                    <a:ext uri="{9D8B030D-6E8A-4147-A177-3AD203B41FA5}">
                      <a16:colId xmlns:a16="http://schemas.microsoft.com/office/drawing/2014/main" val="4123358757"/>
                    </a:ext>
                  </a:extLst>
                </a:gridCol>
                <a:gridCol w="6248400">
                  <a:extLst>
                    <a:ext uri="{9D8B030D-6E8A-4147-A177-3AD203B41FA5}">
                      <a16:colId xmlns:a16="http://schemas.microsoft.com/office/drawing/2014/main" val="2947491092"/>
                    </a:ext>
                  </a:extLst>
                </a:gridCol>
              </a:tblGrid>
              <a:tr h="823143">
                <a:tc>
                  <a:txBody>
                    <a:bodyPr/>
                    <a:lstStyle/>
                    <a:p>
                      <a:r>
                        <a:rPr lang="fr-MA" sz="3600" spc="-10" dirty="0">
                          <a:solidFill>
                            <a:srgbClr val="004D7E"/>
                          </a:solidFill>
                        </a:rPr>
                        <a:t>Catégorie</a:t>
                      </a:r>
                      <a:endParaRPr lang="fr-MA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MA" sz="3600" spc="-50" dirty="0">
                          <a:solidFill>
                            <a:srgbClr val="0C527C"/>
                          </a:solidFill>
                        </a:rPr>
                        <a:t>Technologie</a:t>
                      </a:r>
                      <a:endParaRPr lang="fr-MA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MA" sz="3600" spc="65" dirty="0">
                          <a:solidFill>
                            <a:srgbClr val="085289"/>
                          </a:solidFill>
                        </a:rPr>
                        <a:t>Rôle</a:t>
                      </a:r>
                      <a:r>
                        <a:rPr lang="fr-MA" sz="3600" spc="-20" dirty="0">
                          <a:solidFill>
                            <a:srgbClr val="085289"/>
                          </a:solidFill>
                        </a:rPr>
                        <a:t> </a:t>
                      </a:r>
                      <a:r>
                        <a:rPr lang="fr-MA" sz="3600" dirty="0">
                          <a:solidFill>
                            <a:srgbClr val="163F5D"/>
                          </a:solidFill>
                        </a:rPr>
                        <a:t>/</a:t>
                      </a:r>
                      <a:r>
                        <a:rPr lang="fr-MA" sz="3600" spc="-30" dirty="0">
                          <a:solidFill>
                            <a:srgbClr val="163F5D"/>
                          </a:solidFill>
                        </a:rPr>
                        <a:t> </a:t>
                      </a:r>
                      <a:r>
                        <a:rPr lang="fr-MA" sz="3600" spc="60" dirty="0">
                          <a:solidFill>
                            <a:srgbClr val="0A5691"/>
                          </a:solidFill>
                        </a:rPr>
                        <a:t>Justification</a:t>
                      </a:r>
                      <a:endParaRPr lang="fr-MA" sz="3600" dirty="0">
                        <a:latin typeface="+mn-lt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609852"/>
                  </a:ext>
                </a:extLst>
              </a:tr>
              <a:tr h="1440498">
                <a:tc>
                  <a:txBody>
                    <a:bodyPr/>
                    <a:lstStyle/>
                    <a:p>
                      <a:r>
                        <a:rPr lang="fr-MA" sz="3600" dirty="0">
                          <a:solidFill>
                            <a:srgbClr val="525252"/>
                          </a:solidFill>
                        </a:rPr>
                        <a:t>Front-</a:t>
                      </a:r>
                      <a:r>
                        <a:rPr lang="fr-MA" sz="3600" spc="35" dirty="0">
                          <a:solidFill>
                            <a:srgbClr val="525252"/>
                          </a:solidFill>
                        </a:rPr>
                        <a:t>End</a:t>
                      </a:r>
                      <a:endParaRPr lang="fr-MA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MA" sz="3600" spc="-90" dirty="0">
                          <a:solidFill>
                            <a:srgbClr val="424242"/>
                          </a:solidFill>
                        </a:rPr>
                        <a:t>React</a:t>
                      </a:r>
                      <a:r>
                        <a:rPr lang="fr-MA" sz="3600" spc="-80" dirty="0">
                          <a:solidFill>
                            <a:srgbClr val="424242"/>
                          </a:solidFill>
                        </a:rPr>
                        <a:t> </a:t>
                      </a:r>
                      <a:r>
                        <a:rPr lang="fr-MA" sz="3600" spc="-85" dirty="0">
                          <a:solidFill>
                            <a:srgbClr val="485B6B"/>
                          </a:solidFill>
                        </a:rPr>
                        <a:t>&amp;</a:t>
                      </a:r>
                      <a:r>
                        <a:rPr lang="fr-MA" sz="3600" spc="-250" dirty="0">
                          <a:solidFill>
                            <a:srgbClr val="485B6B"/>
                          </a:solidFill>
                        </a:rPr>
                        <a:t> </a:t>
                      </a:r>
                      <a:r>
                        <a:rPr lang="fr-MA" sz="3600" spc="-60" dirty="0">
                          <a:solidFill>
                            <a:srgbClr val="444444"/>
                          </a:solidFill>
                        </a:rPr>
                        <a:t>Bootstrap</a:t>
                      </a:r>
                      <a:endParaRPr lang="fr-MA" sz="3600" dirty="0">
                        <a:latin typeface="+mn-lt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600" spc="-85" dirty="0">
                          <a:solidFill>
                            <a:srgbClr val="4F4F4F"/>
                          </a:solidFill>
                        </a:rPr>
                        <a:t>Interface</a:t>
                      </a:r>
                      <a:r>
                        <a:rPr lang="fr-FR" sz="3600" spc="-114" dirty="0">
                          <a:solidFill>
                            <a:srgbClr val="4F4F4F"/>
                          </a:solidFill>
                        </a:rPr>
                        <a:t> </a:t>
                      </a:r>
                      <a:r>
                        <a:rPr lang="fr-FR" sz="3600" spc="-140" dirty="0">
                          <a:solidFill>
                            <a:srgbClr val="484848"/>
                          </a:solidFill>
                        </a:rPr>
                        <a:t>dynamique,</a:t>
                      </a:r>
                      <a:r>
                        <a:rPr lang="fr-FR" sz="3600" spc="30" dirty="0">
                          <a:solidFill>
                            <a:srgbClr val="484848"/>
                          </a:solidFill>
                        </a:rPr>
                        <a:t> </a:t>
                      </a:r>
                      <a:r>
                        <a:rPr lang="fr-FR" sz="3600" spc="-80" dirty="0">
                          <a:solidFill>
                            <a:srgbClr val="494949"/>
                          </a:solidFill>
                        </a:rPr>
                        <a:t>responsive</a:t>
                      </a:r>
                      <a:r>
                        <a:rPr lang="fr-FR" sz="3600" spc="-100" dirty="0">
                          <a:solidFill>
                            <a:srgbClr val="494949"/>
                          </a:solidFill>
                        </a:rPr>
                        <a:t> </a:t>
                      </a:r>
                      <a:r>
                        <a:rPr lang="fr-FR" sz="3600" spc="-80" dirty="0">
                          <a:solidFill>
                            <a:srgbClr val="484848"/>
                          </a:solidFill>
                        </a:rPr>
                        <a:t>et</a:t>
                      </a:r>
                      <a:r>
                        <a:rPr lang="fr-FR" sz="3600" spc="-225" dirty="0">
                          <a:solidFill>
                            <a:srgbClr val="484848"/>
                          </a:solidFill>
                        </a:rPr>
                        <a:t> </a:t>
                      </a:r>
                      <a:r>
                        <a:rPr lang="fr-FR" sz="3600" spc="-110" dirty="0">
                          <a:solidFill>
                            <a:srgbClr val="494949"/>
                          </a:solidFill>
                        </a:rPr>
                        <a:t>composants</a:t>
                      </a:r>
                      <a:r>
                        <a:rPr lang="fr-FR" sz="3600" spc="65" dirty="0">
                          <a:solidFill>
                            <a:srgbClr val="494949"/>
                          </a:solidFill>
                        </a:rPr>
                        <a:t> </a:t>
                      </a:r>
                      <a:r>
                        <a:rPr lang="fr-FR" sz="3600" spc="-50" dirty="0">
                          <a:solidFill>
                            <a:srgbClr val="4B4B4B"/>
                          </a:solidFill>
                        </a:rPr>
                        <a:t>réutilisables.</a:t>
                      </a:r>
                      <a:endParaRPr lang="fr-FR" sz="3600" dirty="0">
                        <a:latin typeface="+mn-lt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174001"/>
                  </a:ext>
                </a:extLst>
              </a:tr>
              <a:tr h="1440498">
                <a:tc>
                  <a:txBody>
                    <a:bodyPr/>
                    <a:lstStyle/>
                    <a:p>
                      <a:r>
                        <a:rPr lang="fr-MA" sz="3600" dirty="0">
                          <a:solidFill>
                            <a:srgbClr val="4B4B4B"/>
                          </a:solidFill>
                        </a:rPr>
                        <a:t>Back-</a:t>
                      </a:r>
                      <a:r>
                        <a:rPr lang="fr-MA" sz="3600" spc="-25" dirty="0">
                          <a:solidFill>
                            <a:srgbClr val="4B4B4B"/>
                          </a:solidFill>
                        </a:rPr>
                        <a:t>End</a:t>
                      </a:r>
                      <a:endParaRPr lang="fr-MA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MA" sz="3600" spc="-10" dirty="0">
                          <a:solidFill>
                            <a:srgbClr val="494949"/>
                          </a:solidFill>
                        </a:rPr>
                        <a:t>Laravel</a:t>
                      </a:r>
                      <a:r>
                        <a:rPr lang="fr-MA" sz="3600" spc="30" dirty="0">
                          <a:solidFill>
                            <a:srgbClr val="494949"/>
                          </a:solidFill>
                        </a:rPr>
                        <a:t> </a:t>
                      </a:r>
                      <a:r>
                        <a:rPr lang="fr-MA" sz="3600" dirty="0">
                          <a:solidFill>
                            <a:srgbClr val="4B4B4B"/>
                          </a:solidFill>
                        </a:rPr>
                        <a:t>(API </a:t>
                      </a:r>
                      <a:r>
                        <a:rPr lang="fr-MA" sz="3600" spc="60" dirty="0">
                          <a:solidFill>
                            <a:srgbClr val="525252"/>
                          </a:solidFill>
                        </a:rPr>
                        <a:t>REST)</a:t>
                      </a:r>
                      <a:endParaRPr lang="fr-MA" sz="3600" dirty="0">
                        <a:latin typeface="+mn-lt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600" spc="-110" dirty="0">
                          <a:solidFill>
                            <a:srgbClr val="4F4F4F"/>
                          </a:solidFill>
                          <a:latin typeface="+mn-lt"/>
                          <a:cs typeface="Calibri"/>
                        </a:rPr>
                        <a:t>Framework</a:t>
                      </a:r>
                      <a:r>
                        <a:rPr lang="fr-FR" sz="3600" spc="85" dirty="0">
                          <a:solidFill>
                            <a:srgbClr val="4F4F4F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fr-FR" sz="3600" spc="-95" dirty="0">
                          <a:solidFill>
                            <a:srgbClr val="4B4B4B"/>
                          </a:solidFill>
                          <a:latin typeface="+mn-lt"/>
                          <a:cs typeface="Calibri"/>
                        </a:rPr>
                        <a:t>robuste</a:t>
                      </a:r>
                      <a:r>
                        <a:rPr lang="fr-FR" sz="3600" spc="-55" dirty="0">
                          <a:solidFill>
                            <a:srgbClr val="4B4B4B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fr-FR" sz="3600" spc="-110" dirty="0">
                          <a:solidFill>
                            <a:srgbClr val="4F4F4F"/>
                          </a:solidFill>
                          <a:latin typeface="+mn-lt"/>
                          <a:cs typeface="Calibri"/>
                        </a:rPr>
                        <a:t>pour</a:t>
                      </a:r>
                      <a:r>
                        <a:rPr lang="fr-FR" sz="3600" spc="-25" dirty="0">
                          <a:solidFill>
                            <a:srgbClr val="4F4F4F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fr-FR" sz="3600" spc="-40" dirty="0">
                          <a:solidFill>
                            <a:srgbClr val="4B4B4B"/>
                          </a:solidFill>
                          <a:latin typeface="+mn-lt"/>
                          <a:cs typeface="Calibri"/>
                        </a:rPr>
                        <a:t>le</a:t>
                      </a:r>
                      <a:r>
                        <a:rPr lang="fr-FR" sz="3600" spc="-254" dirty="0">
                          <a:solidFill>
                            <a:srgbClr val="4B4B4B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fr-FR" sz="3600" spc="-114" dirty="0">
                          <a:solidFill>
                            <a:srgbClr val="494949"/>
                          </a:solidFill>
                          <a:latin typeface="+mn-lt"/>
                          <a:cs typeface="Calibri"/>
                        </a:rPr>
                        <a:t>routage</a:t>
                      </a:r>
                      <a:r>
                        <a:rPr lang="fr-FR" sz="3600" spc="-90" dirty="0">
                          <a:solidFill>
                            <a:srgbClr val="494949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fr-FR" sz="3600" spc="-80" dirty="0">
                          <a:solidFill>
                            <a:srgbClr val="4F4F4F"/>
                          </a:solidFill>
                          <a:latin typeface="+mn-lt"/>
                          <a:cs typeface="Calibri"/>
                        </a:rPr>
                        <a:t>et</a:t>
                      </a:r>
                      <a:r>
                        <a:rPr lang="fr-FR" sz="3600" spc="-185" dirty="0">
                          <a:solidFill>
                            <a:srgbClr val="4F4F4F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fr-FR" sz="3600" spc="-45" dirty="0">
                          <a:solidFill>
                            <a:srgbClr val="525252"/>
                          </a:solidFill>
                          <a:latin typeface="+mn-lt"/>
                          <a:cs typeface="Calibri"/>
                        </a:rPr>
                        <a:t>la</a:t>
                      </a:r>
                      <a:r>
                        <a:rPr lang="fr-FR" sz="3600" spc="-210" dirty="0">
                          <a:solidFill>
                            <a:srgbClr val="525252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fr-FR" sz="3600" spc="-75" dirty="0">
                          <a:solidFill>
                            <a:srgbClr val="414141"/>
                          </a:solidFill>
                          <a:latin typeface="+mn-lt"/>
                          <a:cs typeface="Calibri"/>
                        </a:rPr>
                        <a:t>sécurité</a:t>
                      </a:r>
                      <a:r>
                        <a:rPr lang="fr-FR" sz="3600" spc="-100" dirty="0">
                          <a:solidFill>
                            <a:srgbClr val="41414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fr-FR" sz="3600" spc="-110" dirty="0">
                          <a:solidFill>
                            <a:srgbClr val="464646"/>
                          </a:solidFill>
                          <a:latin typeface="+mn-lt"/>
                          <a:cs typeface="Calibri"/>
                        </a:rPr>
                        <a:t>(</a:t>
                      </a:r>
                      <a:r>
                        <a:rPr lang="fr-FR" sz="3600" spc="-110" dirty="0" err="1">
                          <a:solidFill>
                            <a:srgbClr val="464646"/>
                          </a:solidFill>
                          <a:latin typeface="+mn-lt"/>
                          <a:cs typeface="Calibri"/>
                        </a:rPr>
                        <a:t>Sanctum</a:t>
                      </a:r>
                      <a:r>
                        <a:rPr lang="fr-FR" sz="3600" spc="-110" dirty="0">
                          <a:solidFill>
                            <a:srgbClr val="464646"/>
                          </a:solidFill>
                          <a:latin typeface="+mn-lt"/>
                          <a:cs typeface="Calibri"/>
                        </a:rPr>
                        <a:t>).</a:t>
                      </a:r>
                      <a:endParaRPr lang="fr-FR" sz="3600" dirty="0">
                        <a:latin typeface="+mn-lt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960026"/>
                  </a:ext>
                </a:extLst>
              </a:tr>
              <a:tr h="2034968">
                <a:tc>
                  <a:txBody>
                    <a:bodyPr/>
                    <a:lstStyle/>
                    <a:p>
                      <a:r>
                        <a:rPr lang="fr-MA" sz="3600" spc="-10" dirty="0">
                          <a:solidFill>
                            <a:srgbClr val="484848"/>
                          </a:solidFill>
                        </a:rPr>
                        <a:t>Stockage</a:t>
                      </a:r>
                      <a:endParaRPr lang="fr-MA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MA" sz="3600" spc="114" dirty="0">
                          <a:solidFill>
                            <a:srgbClr val="525252"/>
                          </a:solidFill>
                        </a:rPr>
                        <a:t>MySQL</a:t>
                      </a:r>
                      <a:endParaRPr lang="fr-MA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600" spc="80" dirty="0">
                          <a:solidFill>
                            <a:srgbClr val="464646"/>
                          </a:solidFill>
                          <a:latin typeface="+mn-lt"/>
                          <a:cs typeface="Calibri"/>
                        </a:rPr>
                        <a:t>Base</a:t>
                      </a:r>
                      <a:r>
                        <a:rPr lang="fr-FR" sz="3600" spc="-185" dirty="0">
                          <a:solidFill>
                            <a:srgbClr val="464646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fr-FR" sz="3600" dirty="0">
                          <a:solidFill>
                            <a:srgbClr val="4D4D4D"/>
                          </a:solidFill>
                          <a:latin typeface="+mn-lt"/>
                          <a:cs typeface="Calibri"/>
                        </a:rPr>
                        <a:t>de</a:t>
                      </a:r>
                      <a:r>
                        <a:rPr lang="fr-FR" sz="3600" spc="-220" dirty="0">
                          <a:solidFill>
                            <a:srgbClr val="4D4D4D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fr-FR" sz="3600" dirty="0">
                          <a:solidFill>
                            <a:srgbClr val="484848"/>
                          </a:solidFill>
                          <a:latin typeface="+mn-lt"/>
                          <a:cs typeface="Calibri"/>
                        </a:rPr>
                        <a:t>données</a:t>
                      </a:r>
                      <a:r>
                        <a:rPr lang="fr-FR" sz="3600" spc="105" dirty="0">
                          <a:solidFill>
                            <a:srgbClr val="484848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fr-FR" sz="3600" dirty="0">
                          <a:solidFill>
                            <a:srgbClr val="464646"/>
                          </a:solidFill>
                          <a:latin typeface="+mn-lt"/>
                          <a:cs typeface="Calibri"/>
                        </a:rPr>
                        <a:t>relationnelle</a:t>
                      </a:r>
                      <a:r>
                        <a:rPr lang="fr-FR" sz="3600" spc="20" dirty="0">
                          <a:solidFill>
                            <a:srgbClr val="464646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fr-FR" sz="3600" dirty="0">
                          <a:solidFill>
                            <a:srgbClr val="4D4D4D"/>
                          </a:solidFill>
                          <a:latin typeface="+mn-lt"/>
                          <a:cs typeface="Calibri"/>
                        </a:rPr>
                        <a:t>pour</a:t>
                      </a:r>
                      <a:r>
                        <a:rPr lang="fr-FR" sz="3600" spc="30" dirty="0">
                          <a:solidFill>
                            <a:srgbClr val="4D4D4D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fr-FR" sz="3600" dirty="0">
                          <a:solidFill>
                            <a:srgbClr val="4F4F4F"/>
                          </a:solidFill>
                          <a:latin typeface="+mn-lt"/>
                          <a:cs typeface="Calibri"/>
                        </a:rPr>
                        <a:t>la</a:t>
                      </a:r>
                      <a:r>
                        <a:rPr lang="fr-FR" sz="3600" spc="-190" dirty="0">
                          <a:solidFill>
                            <a:srgbClr val="4F4F4F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fr-FR" sz="3600" dirty="0">
                          <a:solidFill>
                            <a:srgbClr val="484848"/>
                          </a:solidFill>
                          <a:latin typeface="+mn-lt"/>
                          <a:cs typeface="Calibri"/>
                        </a:rPr>
                        <a:t>cohérence</a:t>
                      </a:r>
                      <a:r>
                        <a:rPr lang="fr-FR" sz="3600" spc="-60" dirty="0">
                          <a:solidFill>
                            <a:srgbClr val="484848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fr-FR" sz="3600" dirty="0">
                          <a:solidFill>
                            <a:srgbClr val="464646"/>
                          </a:solidFill>
                          <a:latin typeface="+mn-lt"/>
                          <a:cs typeface="Calibri"/>
                        </a:rPr>
                        <a:t>des</a:t>
                      </a:r>
                      <a:r>
                        <a:rPr lang="fr-FR" sz="3600" spc="-50" dirty="0">
                          <a:solidFill>
                            <a:srgbClr val="464646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fr-FR" sz="3600" spc="-10" dirty="0">
                          <a:solidFill>
                            <a:srgbClr val="494949"/>
                          </a:solidFill>
                          <a:latin typeface="+mn-lt"/>
                          <a:cs typeface="Calibri"/>
                        </a:rPr>
                        <a:t>données.</a:t>
                      </a:r>
                      <a:endParaRPr lang="fr-FR" sz="3600" dirty="0">
                        <a:latin typeface="+mn-lt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437949"/>
                  </a:ext>
                </a:extLst>
              </a:tr>
              <a:tr h="1440498">
                <a:tc>
                  <a:txBody>
                    <a:bodyPr/>
                    <a:lstStyle/>
                    <a:p>
                      <a:r>
                        <a:rPr lang="fr-MA" sz="3600" spc="110" dirty="0">
                          <a:solidFill>
                            <a:srgbClr val="4D4D4D"/>
                          </a:solidFill>
                        </a:rPr>
                        <a:t>Outils</a:t>
                      </a:r>
                      <a:endParaRPr lang="fr-MA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MA" sz="3600" spc="-50" dirty="0">
                          <a:solidFill>
                            <a:srgbClr val="494949"/>
                          </a:solidFill>
                        </a:rPr>
                        <a:t>Git,</a:t>
                      </a:r>
                      <a:r>
                        <a:rPr lang="fr-MA" sz="3600" spc="-229" dirty="0">
                          <a:solidFill>
                            <a:srgbClr val="494949"/>
                          </a:solidFill>
                        </a:rPr>
                        <a:t> </a:t>
                      </a:r>
                      <a:r>
                        <a:rPr lang="fr-MA" sz="3600" spc="95" dirty="0">
                          <a:solidFill>
                            <a:srgbClr val="4B4B4B"/>
                          </a:solidFill>
                        </a:rPr>
                        <a:t>VS</a:t>
                      </a:r>
                      <a:r>
                        <a:rPr lang="fr-MA" sz="3600" spc="-70" dirty="0">
                          <a:solidFill>
                            <a:srgbClr val="4B4B4B"/>
                          </a:solidFill>
                        </a:rPr>
                        <a:t> </a:t>
                      </a:r>
                      <a:r>
                        <a:rPr lang="fr-MA" sz="3600" spc="-20" dirty="0">
                          <a:solidFill>
                            <a:srgbClr val="494949"/>
                          </a:solidFill>
                        </a:rPr>
                        <a:t>Code</a:t>
                      </a:r>
                      <a:endParaRPr lang="fr-MA" sz="3600" dirty="0">
                        <a:latin typeface="+mn-lt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3600" spc="-85" dirty="0">
                          <a:solidFill>
                            <a:srgbClr val="494949"/>
                          </a:solidFill>
                          <a:latin typeface="+mn-lt"/>
                          <a:cs typeface="Calibri"/>
                        </a:rPr>
                        <a:t>Gestion</a:t>
                      </a:r>
                      <a:r>
                        <a:rPr lang="fr-FR" sz="3600" spc="-40" dirty="0">
                          <a:solidFill>
                            <a:srgbClr val="494949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fr-FR" sz="3600" spc="-110" dirty="0">
                          <a:solidFill>
                            <a:srgbClr val="4F4F4F"/>
                          </a:solidFill>
                          <a:latin typeface="+mn-lt"/>
                          <a:cs typeface="Calibri"/>
                        </a:rPr>
                        <a:t>de</a:t>
                      </a:r>
                      <a:r>
                        <a:rPr lang="fr-FR" sz="3600" spc="-165" dirty="0">
                          <a:solidFill>
                            <a:srgbClr val="4F4F4F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fr-FR" sz="3600" spc="-90" dirty="0">
                          <a:solidFill>
                            <a:srgbClr val="4B4B4B"/>
                          </a:solidFill>
                          <a:latin typeface="+mn-lt"/>
                          <a:cs typeface="Calibri"/>
                        </a:rPr>
                        <a:t>version,</a:t>
                      </a:r>
                      <a:r>
                        <a:rPr lang="fr-FR" sz="3600" spc="-120" dirty="0">
                          <a:solidFill>
                            <a:srgbClr val="4B4B4B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fr-FR" sz="3600" spc="-95" dirty="0">
                          <a:solidFill>
                            <a:srgbClr val="414141"/>
                          </a:solidFill>
                          <a:latin typeface="+mn-lt"/>
                          <a:cs typeface="Calibri"/>
                        </a:rPr>
                        <a:t>design</a:t>
                      </a:r>
                      <a:r>
                        <a:rPr lang="fr-FR" sz="3600" spc="-50" dirty="0">
                          <a:solidFill>
                            <a:srgbClr val="414141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fr-FR" sz="3600" dirty="0">
                          <a:solidFill>
                            <a:srgbClr val="444444"/>
                          </a:solidFill>
                          <a:latin typeface="+mn-lt"/>
                          <a:cs typeface="Calibri"/>
                        </a:rPr>
                        <a:t>UI/UX</a:t>
                      </a:r>
                      <a:r>
                        <a:rPr lang="fr-FR" sz="3600" spc="-55" dirty="0">
                          <a:solidFill>
                            <a:srgbClr val="444444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fr-FR" sz="3600" spc="-80" dirty="0">
                          <a:solidFill>
                            <a:srgbClr val="525252"/>
                          </a:solidFill>
                          <a:latin typeface="+mn-lt"/>
                          <a:cs typeface="Calibri"/>
                        </a:rPr>
                        <a:t>et</a:t>
                      </a:r>
                      <a:r>
                        <a:rPr lang="fr-FR" sz="3600" spc="-215" dirty="0">
                          <a:solidFill>
                            <a:srgbClr val="525252"/>
                          </a:solidFill>
                          <a:latin typeface="+mn-lt"/>
                          <a:cs typeface="Calibri"/>
                        </a:rPr>
                        <a:t> </a:t>
                      </a:r>
                      <a:r>
                        <a:rPr lang="fr-FR" sz="3600" spc="-110" dirty="0">
                          <a:solidFill>
                            <a:srgbClr val="4B4B4B"/>
                          </a:solidFill>
                          <a:latin typeface="+mn-lt"/>
                          <a:cs typeface="Calibri"/>
                        </a:rPr>
                        <a:t>développement.</a:t>
                      </a:r>
                      <a:endParaRPr lang="fr-FR" sz="3600" dirty="0">
                        <a:latin typeface="+mn-lt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8542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brightnessContrast bright="-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  <a:solidFill>
            <a:schemeClr val="bg2">
              <a:lumMod val="90000"/>
              <a:alpha val="0"/>
            </a:schemeClr>
          </a:solidFill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450" y="2606675"/>
            <a:ext cx="9627365" cy="714229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40020" y="315823"/>
            <a:ext cx="7489825" cy="1007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450" dirty="0">
                <a:solidFill>
                  <a:srgbClr val="2A2A2A"/>
                </a:solidFill>
              </a:rPr>
              <a:t>Difficultés</a:t>
            </a:r>
            <a:r>
              <a:rPr sz="6450" spc="370" dirty="0">
                <a:solidFill>
                  <a:srgbClr val="2A2A2A"/>
                </a:solidFill>
              </a:rPr>
              <a:t> </a:t>
            </a:r>
            <a:r>
              <a:rPr sz="6450" dirty="0">
                <a:solidFill>
                  <a:srgbClr val="2A2A2A"/>
                </a:solidFill>
              </a:rPr>
              <a:t>&amp;</a:t>
            </a:r>
            <a:r>
              <a:rPr sz="6450" spc="-210" dirty="0">
                <a:solidFill>
                  <a:srgbClr val="2A2A2A"/>
                </a:solidFill>
              </a:rPr>
              <a:t> </a:t>
            </a:r>
            <a:r>
              <a:rPr sz="6450" spc="-10" dirty="0">
                <a:solidFill>
                  <a:srgbClr val="2A2A2A"/>
                </a:solidFill>
              </a:rPr>
              <a:t>Solutions</a:t>
            </a:r>
            <a:endParaRPr sz="6450"/>
          </a:p>
        </p:txBody>
      </p:sp>
      <p:sp>
        <p:nvSpPr>
          <p:cNvPr id="4" name="object 4"/>
          <p:cNvSpPr txBox="1"/>
          <p:nvPr/>
        </p:nvSpPr>
        <p:spPr>
          <a:xfrm>
            <a:off x="11039457" y="2231995"/>
            <a:ext cx="7654925" cy="8286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dirty="0">
                <a:solidFill>
                  <a:srgbClr val="0A4D79"/>
                </a:solidFill>
                <a:latin typeface="Calibri"/>
                <a:cs typeface="Calibri"/>
              </a:rPr>
              <a:t>Responsivité</a:t>
            </a:r>
            <a:r>
              <a:rPr sz="4900" spc="515" dirty="0">
                <a:solidFill>
                  <a:srgbClr val="0A4D79"/>
                </a:solidFill>
                <a:latin typeface="Calibri"/>
                <a:cs typeface="Calibri"/>
              </a:rPr>
              <a:t> </a:t>
            </a:r>
            <a:r>
              <a:rPr sz="4900" spc="-25" dirty="0">
                <a:solidFill>
                  <a:srgbClr val="00528C"/>
                </a:solidFill>
                <a:latin typeface="Calibri"/>
                <a:cs typeface="Calibri"/>
              </a:rPr>
              <a:t>UI</a:t>
            </a:r>
            <a:endParaRPr sz="4900" dirty="0">
              <a:latin typeface="Calibri"/>
              <a:cs typeface="Calibri"/>
            </a:endParaRPr>
          </a:p>
          <a:p>
            <a:pPr marL="26670" marR="538480">
              <a:lnSpc>
                <a:spcPct val="117800"/>
              </a:lnSpc>
              <a:spcBef>
                <a:spcPts val="2175"/>
              </a:spcBef>
            </a:pPr>
            <a:r>
              <a:rPr sz="2800" spc="-10" dirty="0">
                <a:solidFill>
                  <a:srgbClr val="465666"/>
                </a:solidFill>
                <a:latin typeface="Calibri"/>
                <a:cs typeface="Calibri"/>
              </a:rPr>
              <a:t>Difficulté</a:t>
            </a:r>
            <a:r>
              <a:rPr sz="2800" spc="-145" dirty="0">
                <a:solidFill>
                  <a:srgbClr val="46566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64646"/>
                </a:solidFill>
                <a:latin typeface="Calibri"/>
                <a:cs typeface="Calibri"/>
              </a:rPr>
              <a:t>:</a:t>
            </a:r>
            <a:r>
              <a:rPr sz="2800" spc="-18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444444"/>
                </a:solidFill>
                <a:latin typeface="Calibri"/>
                <a:cs typeface="Calibri"/>
              </a:rPr>
              <a:t>Adapter</a:t>
            </a:r>
            <a:r>
              <a:rPr sz="2800" spc="-1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800" spc="-65" dirty="0">
                <a:solidFill>
                  <a:srgbClr val="464646"/>
                </a:solidFill>
                <a:latin typeface="Calibri"/>
                <a:cs typeface="Calibri"/>
              </a:rPr>
              <a:t>les </a:t>
            </a:r>
            <a:r>
              <a:rPr sz="2800" spc="-105" dirty="0">
                <a:solidFill>
                  <a:srgbClr val="464646"/>
                </a:solidFill>
                <a:latin typeface="Calibri"/>
                <a:cs typeface="Calibri"/>
              </a:rPr>
              <a:t>tableaux</a:t>
            </a:r>
            <a:r>
              <a:rPr sz="2800" spc="-11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484848"/>
                </a:solidFill>
                <a:latin typeface="Calibri"/>
                <a:cs typeface="Calibri"/>
              </a:rPr>
              <a:t>de</a:t>
            </a:r>
            <a:r>
              <a:rPr sz="2800" spc="-22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800" spc="-85" dirty="0">
                <a:solidFill>
                  <a:srgbClr val="4B4B4B"/>
                </a:solidFill>
                <a:latin typeface="Calibri"/>
                <a:cs typeface="Calibri"/>
              </a:rPr>
              <a:t>lignes</a:t>
            </a:r>
            <a:r>
              <a:rPr sz="2800" spc="-4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800" spc="-45" dirty="0">
                <a:solidFill>
                  <a:srgbClr val="4F4F4F"/>
                </a:solidFill>
                <a:latin typeface="Calibri"/>
                <a:cs typeface="Calibri"/>
              </a:rPr>
              <a:t>sur</a:t>
            </a:r>
            <a:r>
              <a:rPr sz="2800" spc="-114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414141"/>
                </a:solidFill>
                <a:latin typeface="Calibri"/>
                <a:cs typeface="Calibri"/>
              </a:rPr>
              <a:t>mobile. </a:t>
            </a:r>
            <a:r>
              <a:rPr sz="2800" spc="-60" dirty="0">
                <a:solidFill>
                  <a:srgbClr val="4D6479"/>
                </a:solidFill>
                <a:latin typeface="Calibri"/>
                <a:cs typeface="Calibri"/>
              </a:rPr>
              <a:t>Solution</a:t>
            </a:r>
            <a:r>
              <a:rPr sz="2800" spc="-245" dirty="0">
                <a:solidFill>
                  <a:srgbClr val="4D6479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495462"/>
                </a:solidFill>
                <a:latin typeface="Calibri"/>
                <a:cs typeface="Calibri"/>
              </a:rPr>
              <a:t>:</a:t>
            </a:r>
            <a:r>
              <a:rPr sz="2800" spc="-145" dirty="0">
                <a:solidFill>
                  <a:srgbClr val="495462"/>
                </a:solidFill>
                <a:latin typeface="Calibri"/>
                <a:cs typeface="Calibri"/>
              </a:rPr>
              <a:t> </a:t>
            </a:r>
            <a:r>
              <a:rPr sz="2800" spc="-60" dirty="0">
                <a:solidFill>
                  <a:srgbClr val="444444"/>
                </a:solidFill>
                <a:latin typeface="Calibri"/>
                <a:cs typeface="Calibri"/>
              </a:rPr>
              <a:t>Utilisation</a:t>
            </a:r>
            <a:r>
              <a:rPr sz="2800" spc="-7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800" spc="-105" dirty="0">
                <a:solidFill>
                  <a:srgbClr val="494949"/>
                </a:solidFill>
                <a:latin typeface="Calibri"/>
                <a:cs typeface="Calibri"/>
              </a:rPr>
              <a:t>des</a:t>
            </a:r>
            <a:r>
              <a:rPr sz="2800" spc="-9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800" spc="-65" dirty="0">
                <a:solidFill>
                  <a:srgbClr val="494949"/>
                </a:solidFill>
                <a:latin typeface="Calibri"/>
                <a:cs typeface="Calibri"/>
              </a:rPr>
              <a:t>classes</a:t>
            </a:r>
            <a:r>
              <a:rPr sz="2800" spc="-7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800" spc="-65" dirty="0">
                <a:solidFill>
                  <a:srgbClr val="414141"/>
                </a:solidFill>
                <a:latin typeface="Calibri"/>
                <a:cs typeface="Calibri"/>
              </a:rPr>
              <a:t>utilitaires</a:t>
            </a:r>
            <a:r>
              <a:rPr sz="2800" spc="50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4B4B4B"/>
                </a:solidFill>
                <a:latin typeface="Calibri"/>
                <a:cs typeface="Calibri"/>
              </a:rPr>
              <a:t>de</a:t>
            </a:r>
            <a:r>
              <a:rPr sz="2800" spc="-17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525252"/>
                </a:solidFill>
                <a:latin typeface="Calibri"/>
                <a:cs typeface="Calibri"/>
              </a:rPr>
              <a:t>React </a:t>
            </a:r>
            <a:r>
              <a:rPr sz="2800" spc="-10" dirty="0">
                <a:solidFill>
                  <a:srgbClr val="3F3F3F"/>
                </a:solidFill>
                <a:latin typeface="Calibri"/>
                <a:cs typeface="Calibri"/>
              </a:rPr>
              <a:t>Bootstrap.</a:t>
            </a:r>
            <a:endParaRPr sz="2800" dirty="0">
              <a:latin typeface="Calibri"/>
              <a:cs typeface="Calibri"/>
            </a:endParaRPr>
          </a:p>
          <a:p>
            <a:pPr marL="15240">
              <a:lnSpc>
                <a:spcPct val="100000"/>
              </a:lnSpc>
              <a:spcBef>
                <a:spcPts val="2880"/>
              </a:spcBef>
            </a:pPr>
            <a:r>
              <a:rPr sz="4600" spc="275" dirty="0">
                <a:solidFill>
                  <a:srgbClr val="084D79"/>
                </a:solidFill>
                <a:latin typeface="Calibri"/>
                <a:cs typeface="Calibri"/>
              </a:rPr>
              <a:t>Emails</a:t>
            </a:r>
            <a:r>
              <a:rPr sz="4600" spc="-130" dirty="0">
                <a:solidFill>
                  <a:srgbClr val="084D79"/>
                </a:solidFill>
                <a:latin typeface="Calibri"/>
                <a:cs typeface="Calibri"/>
              </a:rPr>
              <a:t> </a:t>
            </a:r>
            <a:r>
              <a:rPr sz="4600" spc="215" dirty="0">
                <a:solidFill>
                  <a:srgbClr val="0A5687"/>
                </a:solidFill>
                <a:latin typeface="Calibri"/>
                <a:cs typeface="Calibri"/>
              </a:rPr>
              <a:t>&amp;</a:t>
            </a:r>
            <a:r>
              <a:rPr sz="4600" spc="-195" dirty="0">
                <a:solidFill>
                  <a:srgbClr val="0A5687"/>
                </a:solidFill>
                <a:latin typeface="Calibri"/>
                <a:cs typeface="Calibri"/>
              </a:rPr>
              <a:t> </a:t>
            </a:r>
            <a:r>
              <a:rPr sz="4600" spc="-20" dirty="0">
                <a:solidFill>
                  <a:srgbClr val="00508E"/>
                </a:solidFill>
                <a:latin typeface="Calibri"/>
                <a:cs typeface="Calibri"/>
              </a:rPr>
              <a:t>SMTP</a:t>
            </a:r>
            <a:endParaRPr sz="4600" dirty="0">
              <a:latin typeface="Calibri"/>
              <a:cs typeface="Calibri"/>
            </a:endParaRPr>
          </a:p>
          <a:p>
            <a:pPr marL="26670">
              <a:lnSpc>
                <a:spcPct val="100000"/>
              </a:lnSpc>
              <a:spcBef>
                <a:spcPts val="2955"/>
              </a:spcBef>
            </a:pPr>
            <a:r>
              <a:rPr sz="2800" spc="-10" dirty="0">
                <a:solidFill>
                  <a:srgbClr val="484848"/>
                </a:solidFill>
                <a:latin typeface="Calibri"/>
                <a:cs typeface="Calibri"/>
              </a:rPr>
              <a:t>Difficulté</a:t>
            </a:r>
            <a:r>
              <a:rPr sz="2800" spc="-12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B3B3B"/>
                </a:solidFill>
                <a:latin typeface="Calibri"/>
                <a:cs typeface="Calibri"/>
              </a:rPr>
              <a:t>:</a:t>
            </a:r>
            <a:r>
              <a:rPr sz="2800" spc="-16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800" spc="-70" dirty="0">
                <a:solidFill>
                  <a:srgbClr val="464646"/>
                </a:solidFill>
                <a:latin typeface="Calibri"/>
                <a:cs typeface="Calibri"/>
              </a:rPr>
              <a:t>Configuration</a:t>
            </a:r>
            <a:r>
              <a:rPr sz="2800" spc="-3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800" spc="-100" dirty="0">
                <a:solidFill>
                  <a:srgbClr val="484848"/>
                </a:solidFill>
                <a:latin typeface="Calibri"/>
                <a:cs typeface="Calibri"/>
              </a:rPr>
              <a:t>du</a:t>
            </a:r>
            <a:r>
              <a:rPr sz="2800" spc="-20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444444"/>
                </a:solidFill>
                <a:latin typeface="Calibri"/>
                <a:cs typeface="Calibri"/>
              </a:rPr>
              <a:t>serveur</a:t>
            </a:r>
            <a:r>
              <a:rPr sz="2800" spc="-7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24242"/>
                </a:solidFill>
                <a:latin typeface="Calibri"/>
                <a:cs typeface="Calibri"/>
              </a:rPr>
              <a:t>d'envoi.</a:t>
            </a:r>
            <a:endParaRPr sz="2800" dirty="0">
              <a:latin typeface="Calibri"/>
              <a:cs typeface="Calibri"/>
            </a:endParaRPr>
          </a:p>
          <a:p>
            <a:pPr marL="26670" marR="5080" indent="1905">
              <a:lnSpc>
                <a:spcPct val="117800"/>
              </a:lnSpc>
            </a:pPr>
            <a:r>
              <a:rPr sz="2800" spc="-60" dirty="0">
                <a:solidFill>
                  <a:srgbClr val="3A4D66"/>
                </a:solidFill>
                <a:latin typeface="Calibri"/>
                <a:cs typeface="Calibri"/>
              </a:rPr>
              <a:t>Solution</a:t>
            </a:r>
            <a:r>
              <a:rPr sz="2800" spc="-245" dirty="0">
                <a:solidFill>
                  <a:srgbClr val="3A4D66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4F5675"/>
                </a:solidFill>
                <a:latin typeface="Calibri"/>
                <a:cs typeface="Calibri"/>
              </a:rPr>
              <a:t>:</a:t>
            </a:r>
            <a:r>
              <a:rPr sz="2800" spc="-150" dirty="0">
                <a:solidFill>
                  <a:srgbClr val="4F5675"/>
                </a:solidFill>
                <a:latin typeface="Calibri"/>
                <a:cs typeface="Calibri"/>
              </a:rPr>
              <a:t> </a:t>
            </a:r>
            <a:r>
              <a:rPr sz="2800" spc="-60" dirty="0">
                <a:solidFill>
                  <a:srgbClr val="464646"/>
                </a:solidFill>
                <a:latin typeface="Calibri"/>
                <a:cs typeface="Calibri"/>
              </a:rPr>
              <a:t>Utilisation</a:t>
            </a:r>
            <a:r>
              <a:rPr sz="2800" spc="-7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494949"/>
                </a:solidFill>
                <a:latin typeface="Calibri"/>
                <a:cs typeface="Calibri"/>
              </a:rPr>
              <a:t>de</a:t>
            </a:r>
            <a:r>
              <a:rPr sz="2800" spc="-2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800" spc="-90" dirty="0">
                <a:solidFill>
                  <a:srgbClr val="444444"/>
                </a:solidFill>
                <a:latin typeface="Calibri"/>
                <a:cs typeface="Calibri"/>
              </a:rPr>
              <a:t>Mailtrap</a:t>
            </a:r>
            <a:r>
              <a:rPr sz="2800" spc="-2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444444"/>
                </a:solidFill>
                <a:latin typeface="Calibri"/>
                <a:cs typeface="Calibri"/>
              </a:rPr>
              <a:t>pour</a:t>
            </a:r>
            <a:r>
              <a:rPr sz="2800" spc="-2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800" spc="-65" dirty="0">
                <a:solidFill>
                  <a:srgbClr val="484848"/>
                </a:solidFill>
                <a:latin typeface="Calibri"/>
                <a:cs typeface="Calibri"/>
              </a:rPr>
              <a:t>les</a:t>
            </a:r>
            <a:r>
              <a:rPr sz="2800" spc="-3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800" spc="-90" dirty="0">
                <a:solidFill>
                  <a:srgbClr val="494949"/>
                </a:solidFill>
                <a:latin typeface="Calibri"/>
                <a:cs typeface="Calibri"/>
              </a:rPr>
              <a:t>tests</a:t>
            </a:r>
            <a:r>
              <a:rPr sz="2800" spc="-4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464646"/>
                </a:solidFill>
                <a:latin typeface="Calibri"/>
                <a:cs typeface="Calibri"/>
              </a:rPr>
              <a:t>et</a:t>
            </a:r>
            <a:r>
              <a:rPr sz="2800" spc="-204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800" spc="-45" dirty="0">
                <a:solidFill>
                  <a:srgbClr val="494949"/>
                </a:solidFill>
                <a:latin typeface="Calibri"/>
                <a:cs typeface="Calibri"/>
              </a:rPr>
              <a:t>Laravel </a:t>
            </a:r>
            <a:r>
              <a:rPr sz="2800" spc="-100" dirty="0">
                <a:solidFill>
                  <a:srgbClr val="4B4B4B"/>
                </a:solidFill>
                <a:latin typeface="Calibri"/>
                <a:cs typeface="Calibri"/>
              </a:rPr>
              <a:t>Mail</a:t>
            </a:r>
            <a:r>
              <a:rPr sz="2800" spc="-7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494949"/>
                </a:solidFill>
                <a:latin typeface="Calibri"/>
                <a:cs typeface="Calibri"/>
              </a:rPr>
              <a:t>pour</a:t>
            </a:r>
            <a:r>
              <a:rPr sz="280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800" spc="-105" dirty="0">
                <a:solidFill>
                  <a:srgbClr val="424242"/>
                </a:solidFill>
                <a:latin typeface="Calibri"/>
                <a:cs typeface="Calibri"/>
              </a:rPr>
              <a:t>l'envoi</a:t>
            </a:r>
            <a:r>
              <a:rPr sz="2800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84848"/>
                </a:solidFill>
                <a:latin typeface="Calibri"/>
                <a:cs typeface="Calibri"/>
              </a:rPr>
              <a:t>réel.</a:t>
            </a:r>
            <a:endParaRPr sz="2800" dirty="0">
              <a:latin typeface="Calibri"/>
              <a:cs typeface="Calibri"/>
            </a:endParaRPr>
          </a:p>
          <a:p>
            <a:pPr marL="34925">
              <a:lnSpc>
                <a:spcPct val="100000"/>
              </a:lnSpc>
              <a:spcBef>
                <a:spcPts val="2580"/>
              </a:spcBef>
            </a:pPr>
            <a:r>
              <a:rPr sz="4900" dirty="0">
                <a:solidFill>
                  <a:srgbClr val="00548C"/>
                </a:solidFill>
                <a:latin typeface="Calibri"/>
                <a:cs typeface="Calibri"/>
              </a:rPr>
              <a:t>Sécurité</a:t>
            </a:r>
            <a:r>
              <a:rPr sz="4900" spc="125" dirty="0">
                <a:solidFill>
                  <a:srgbClr val="00548C"/>
                </a:solidFill>
                <a:latin typeface="Calibri"/>
                <a:cs typeface="Calibri"/>
              </a:rPr>
              <a:t> </a:t>
            </a:r>
            <a:r>
              <a:rPr sz="4900" spc="-25" dirty="0">
                <a:solidFill>
                  <a:srgbClr val="004D90"/>
                </a:solidFill>
                <a:latin typeface="Calibri"/>
                <a:cs typeface="Calibri"/>
              </a:rPr>
              <a:t>API</a:t>
            </a:r>
            <a:endParaRPr sz="4900" dirty="0">
              <a:latin typeface="Calibri"/>
              <a:cs typeface="Calibri"/>
            </a:endParaRPr>
          </a:p>
          <a:p>
            <a:pPr marL="27940">
              <a:lnSpc>
                <a:spcPct val="100000"/>
              </a:lnSpc>
              <a:spcBef>
                <a:spcPts val="2875"/>
              </a:spcBef>
            </a:pPr>
            <a:r>
              <a:rPr sz="2700" dirty="0">
                <a:solidFill>
                  <a:srgbClr val="3B4B5B"/>
                </a:solidFill>
                <a:latin typeface="Calibri"/>
                <a:cs typeface="Calibri"/>
              </a:rPr>
              <a:t>Difficulté</a:t>
            </a:r>
            <a:r>
              <a:rPr sz="2700" spc="-100" dirty="0">
                <a:solidFill>
                  <a:srgbClr val="3B4B5B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2700" spc="-10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700" spc="-45" dirty="0">
                <a:solidFill>
                  <a:srgbClr val="494949"/>
                </a:solidFill>
                <a:latin typeface="Calibri"/>
                <a:cs typeface="Calibri"/>
              </a:rPr>
              <a:t>Protection</a:t>
            </a:r>
            <a:r>
              <a:rPr sz="270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494949"/>
                </a:solidFill>
                <a:latin typeface="Calibri"/>
                <a:cs typeface="Calibri"/>
              </a:rPr>
              <a:t>des</a:t>
            </a:r>
            <a:r>
              <a:rPr sz="270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700" spc="-30" dirty="0">
                <a:solidFill>
                  <a:srgbClr val="484848"/>
                </a:solidFill>
                <a:latin typeface="Calibri"/>
                <a:cs typeface="Calibri"/>
              </a:rPr>
              <a:t>routes</a:t>
            </a:r>
            <a:r>
              <a:rPr sz="2700" spc="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484848"/>
                </a:solidFill>
                <a:latin typeface="Calibri"/>
                <a:cs typeface="Calibri"/>
              </a:rPr>
              <a:t>admin.</a:t>
            </a:r>
            <a:endParaRPr sz="2700" dirty="0">
              <a:latin typeface="Calibri"/>
              <a:cs typeface="Calibri"/>
            </a:endParaRPr>
          </a:p>
          <a:p>
            <a:pPr marL="36830" marR="547370" indent="-8255">
              <a:lnSpc>
                <a:spcPct val="122100"/>
              </a:lnSpc>
            </a:pPr>
            <a:r>
              <a:rPr sz="2700" spc="-25" dirty="0">
                <a:solidFill>
                  <a:srgbClr val="46576B"/>
                </a:solidFill>
                <a:latin typeface="Calibri"/>
                <a:cs typeface="Calibri"/>
              </a:rPr>
              <a:t>Solution</a:t>
            </a:r>
            <a:r>
              <a:rPr sz="2700" spc="-170" dirty="0">
                <a:solidFill>
                  <a:srgbClr val="46576B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3F4D64"/>
                </a:solidFill>
                <a:latin typeface="Calibri"/>
                <a:cs typeface="Calibri"/>
              </a:rPr>
              <a:t>:</a:t>
            </a:r>
            <a:r>
              <a:rPr sz="2700" spc="-65" dirty="0">
                <a:solidFill>
                  <a:srgbClr val="3F4D64"/>
                </a:solidFill>
                <a:latin typeface="Calibri"/>
                <a:cs typeface="Calibri"/>
              </a:rPr>
              <a:t> </a:t>
            </a:r>
            <a:r>
              <a:rPr sz="2700" spc="-75" dirty="0">
                <a:solidFill>
                  <a:srgbClr val="494949"/>
                </a:solidFill>
                <a:latin typeface="Calibri"/>
                <a:cs typeface="Calibri"/>
              </a:rPr>
              <a:t>Implémentation</a:t>
            </a:r>
            <a:r>
              <a:rPr sz="2700" spc="-2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4B4B4B"/>
                </a:solidFill>
                <a:latin typeface="Calibri"/>
                <a:cs typeface="Calibri"/>
              </a:rPr>
              <a:t>de</a:t>
            </a:r>
            <a:r>
              <a:rPr sz="2700" spc="-229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700" spc="-55" dirty="0">
                <a:solidFill>
                  <a:srgbClr val="484848"/>
                </a:solidFill>
                <a:latin typeface="Calibri"/>
                <a:cs typeface="Calibri"/>
              </a:rPr>
              <a:t>Middlewares</a:t>
            </a:r>
            <a:r>
              <a:rPr sz="2700" spc="12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700" spc="-30" dirty="0">
                <a:solidFill>
                  <a:srgbClr val="494949"/>
                </a:solidFill>
                <a:latin typeface="Calibri"/>
                <a:cs typeface="Calibri"/>
              </a:rPr>
              <a:t>et</a:t>
            </a:r>
            <a:r>
              <a:rPr sz="2700" spc="-19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484848"/>
                </a:solidFill>
                <a:latin typeface="Calibri"/>
                <a:cs typeface="Calibri"/>
              </a:rPr>
              <a:t>Laravel </a:t>
            </a:r>
            <a:r>
              <a:rPr sz="2700" spc="-10" dirty="0">
                <a:solidFill>
                  <a:srgbClr val="4D4D4D"/>
                </a:solidFill>
                <a:latin typeface="Calibri"/>
                <a:cs typeface="Calibri"/>
              </a:rPr>
              <a:t>Sanctum</a:t>
            </a:r>
            <a:r>
              <a:rPr lang="fr-FR" sz="2700" spc="-10" dirty="0">
                <a:solidFill>
                  <a:srgbClr val="4D4D4D"/>
                </a:solidFill>
                <a:latin typeface="Calibri"/>
                <a:cs typeface="Calibri"/>
              </a:rPr>
              <a:t> ainsi que CSRF</a:t>
            </a:r>
            <a:r>
              <a:rPr sz="2700" spc="-10" dirty="0">
                <a:solidFill>
                  <a:srgbClr val="4D4D4D"/>
                </a:solidFill>
                <a:latin typeface="Calibri"/>
                <a:cs typeface="Calibri"/>
              </a:rPr>
              <a:t>.</a:t>
            </a:r>
            <a:endParaRPr sz="27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4880" y="5560040"/>
            <a:ext cx="848141" cy="136645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044379" y="5544333"/>
            <a:ext cx="3612515" cy="1398270"/>
            <a:chOff x="4044379" y="5544333"/>
            <a:chExt cx="3612515" cy="139827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9650" y="5567893"/>
              <a:ext cx="1248653" cy="135859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44379" y="5544333"/>
              <a:ext cx="3612455" cy="1397863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340020" y="834132"/>
            <a:ext cx="4933950" cy="1007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450" spc="200" dirty="0">
                <a:solidFill>
                  <a:srgbClr val="2A2A2A"/>
                </a:solidFill>
              </a:rPr>
              <a:t>Bilan</a:t>
            </a:r>
            <a:r>
              <a:rPr sz="6450" spc="-515" dirty="0">
                <a:solidFill>
                  <a:srgbClr val="2A2A2A"/>
                </a:solidFill>
              </a:rPr>
              <a:t> </a:t>
            </a:r>
            <a:r>
              <a:rPr sz="6450" spc="300" dirty="0">
                <a:solidFill>
                  <a:srgbClr val="2A2A2A"/>
                </a:solidFill>
              </a:rPr>
              <a:t>du</a:t>
            </a:r>
            <a:r>
              <a:rPr sz="6450" spc="-790" dirty="0">
                <a:solidFill>
                  <a:srgbClr val="2A2A2A"/>
                </a:solidFill>
              </a:rPr>
              <a:t> </a:t>
            </a:r>
            <a:r>
              <a:rPr sz="6450" spc="-30" dirty="0">
                <a:solidFill>
                  <a:srgbClr val="212121"/>
                </a:solidFill>
              </a:rPr>
              <a:t>Projet</a:t>
            </a:r>
            <a:endParaRPr sz="6450"/>
          </a:p>
        </p:txBody>
      </p:sp>
      <p:sp>
        <p:nvSpPr>
          <p:cNvPr id="7" name="object 7"/>
          <p:cNvSpPr txBox="1"/>
          <p:nvPr/>
        </p:nvSpPr>
        <p:spPr>
          <a:xfrm>
            <a:off x="3521845" y="7091141"/>
            <a:ext cx="3531870" cy="594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700" spc="80" dirty="0">
                <a:solidFill>
                  <a:srgbClr val="697590"/>
                </a:solidFill>
                <a:latin typeface="Calibri"/>
                <a:cs typeface="Calibri"/>
              </a:rPr>
              <a:t>Objectifs</a:t>
            </a:r>
            <a:r>
              <a:rPr sz="3700" spc="-114" dirty="0">
                <a:solidFill>
                  <a:srgbClr val="697590"/>
                </a:solidFill>
                <a:latin typeface="Calibri"/>
                <a:cs typeface="Calibri"/>
              </a:rPr>
              <a:t> </a:t>
            </a:r>
            <a:r>
              <a:rPr sz="3700" spc="85" dirty="0">
                <a:solidFill>
                  <a:srgbClr val="5E6D87"/>
                </a:solidFill>
                <a:latin typeface="Calibri"/>
                <a:cs typeface="Calibri"/>
              </a:rPr>
              <a:t>Atteints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18273" y="3543474"/>
            <a:ext cx="8298180" cy="2030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spc="65" dirty="0">
                <a:solidFill>
                  <a:srgbClr val="014F85"/>
                </a:solidFill>
                <a:latin typeface="Calibri"/>
                <a:cs typeface="Calibri"/>
              </a:rPr>
              <a:t>Compétences</a:t>
            </a:r>
            <a:r>
              <a:rPr sz="4900" spc="155" dirty="0">
                <a:solidFill>
                  <a:srgbClr val="014F85"/>
                </a:solidFill>
                <a:latin typeface="Calibri"/>
                <a:cs typeface="Calibri"/>
              </a:rPr>
              <a:t> </a:t>
            </a:r>
            <a:r>
              <a:rPr sz="4900" spc="-10" dirty="0">
                <a:solidFill>
                  <a:srgbClr val="034F83"/>
                </a:solidFill>
                <a:latin typeface="Calibri"/>
                <a:cs typeface="Calibri"/>
              </a:rPr>
              <a:t>développées</a:t>
            </a:r>
            <a:endParaRPr sz="4900">
              <a:latin typeface="Calibri"/>
              <a:cs typeface="Calibri"/>
            </a:endParaRPr>
          </a:p>
          <a:p>
            <a:pPr marL="19685" marR="5080">
              <a:lnSpc>
                <a:spcPct val="117800"/>
              </a:lnSpc>
              <a:spcBef>
                <a:spcPts val="1989"/>
              </a:spcBef>
            </a:pPr>
            <a:r>
              <a:rPr sz="2800" spc="-75" dirty="0">
                <a:solidFill>
                  <a:srgbClr val="4B4B4B"/>
                </a:solidFill>
                <a:latin typeface="Calibri"/>
                <a:cs typeface="Calibri"/>
              </a:rPr>
              <a:t>Maîtrise</a:t>
            </a:r>
            <a:r>
              <a:rPr sz="2800" spc="-114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800" spc="-100" dirty="0">
                <a:solidFill>
                  <a:srgbClr val="4F4F4F"/>
                </a:solidFill>
                <a:latin typeface="Calibri"/>
                <a:cs typeface="Calibri"/>
              </a:rPr>
              <a:t>du</a:t>
            </a:r>
            <a:r>
              <a:rPr sz="2800" spc="-22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800" spc="-75" dirty="0">
                <a:solidFill>
                  <a:srgbClr val="4D4D4D"/>
                </a:solidFill>
                <a:latin typeface="Calibri"/>
                <a:cs typeface="Calibri"/>
              </a:rPr>
              <a:t>workflow</a:t>
            </a:r>
            <a:r>
              <a:rPr sz="2800" spc="-14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424242"/>
                </a:solidFill>
                <a:latin typeface="Calibri"/>
                <a:cs typeface="Calibri"/>
              </a:rPr>
              <a:t>Full</a:t>
            </a:r>
            <a:r>
              <a:rPr sz="2800" spc="-8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4444"/>
                </a:solidFill>
                <a:latin typeface="Calibri"/>
                <a:cs typeface="Calibri"/>
              </a:rPr>
              <a:t>Stack:</a:t>
            </a:r>
            <a:r>
              <a:rPr sz="2800" spc="-16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4F4F4F"/>
                </a:solidFill>
                <a:latin typeface="Calibri"/>
                <a:cs typeface="Calibri"/>
              </a:rPr>
              <a:t>de</a:t>
            </a:r>
            <a:r>
              <a:rPr sz="2800" spc="-22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800" spc="-45" dirty="0">
                <a:solidFill>
                  <a:srgbClr val="505050"/>
                </a:solidFill>
                <a:latin typeface="Calibri"/>
                <a:cs typeface="Calibri"/>
              </a:rPr>
              <a:t>la</a:t>
            </a:r>
            <a:r>
              <a:rPr sz="2800" spc="-229" dirty="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sz="2800" spc="-114" dirty="0">
                <a:solidFill>
                  <a:srgbClr val="484848"/>
                </a:solidFill>
                <a:latin typeface="Calibri"/>
                <a:cs typeface="Calibri"/>
              </a:rPr>
              <a:t>conception</a:t>
            </a:r>
            <a:r>
              <a:rPr sz="2800" spc="4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94949"/>
                </a:solidFill>
                <a:latin typeface="Calibri"/>
                <a:cs typeface="Calibri"/>
              </a:rPr>
              <a:t>UML</a:t>
            </a:r>
            <a:r>
              <a:rPr sz="2800" spc="-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800" spc="-60" dirty="0">
                <a:solidFill>
                  <a:srgbClr val="495764"/>
                </a:solidFill>
                <a:latin typeface="Calibri"/>
                <a:cs typeface="Calibri"/>
              </a:rPr>
              <a:t>à</a:t>
            </a:r>
            <a:r>
              <a:rPr sz="2800" spc="-215" dirty="0">
                <a:solidFill>
                  <a:srgbClr val="49576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64646"/>
                </a:solidFill>
                <a:latin typeface="Calibri"/>
                <a:cs typeface="Calibri"/>
              </a:rPr>
              <a:t>l'API </a:t>
            </a:r>
            <a:r>
              <a:rPr sz="2800" spc="-70" dirty="0">
                <a:solidFill>
                  <a:srgbClr val="4D4D4D"/>
                </a:solidFill>
                <a:latin typeface="Calibri"/>
                <a:cs typeface="Calibri"/>
              </a:rPr>
              <a:t>Laravel</a:t>
            </a:r>
            <a:r>
              <a:rPr sz="2800" spc="-9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464646"/>
                </a:solidFill>
                <a:latin typeface="Calibri"/>
                <a:cs typeface="Calibri"/>
              </a:rPr>
              <a:t>et</a:t>
            </a:r>
            <a:r>
              <a:rPr sz="2800" spc="-19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800" spc="-75" dirty="0">
                <a:solidFill>
                  <a:srgbClr val="464646"/>
                </a:solidFill>
                <a:latin typeface="Calibri"/>
                <a:cs typeface="Calibri"/>
              </a:rPr>
              <a:t>l'intégration</a:t>
            </a:r>
            <a:r>
              <a:rPr sz="2800" spc="-1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24242"/>
                </a:solidFill>
                <a:latin typeface="Calibri"/>
                <a:cs typeface="Calibri"/>
              </a:rPr>
              <a:t>React.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29188" y="5765919"/>
            <a:ext cx="6893559" cy="3181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dirty="0">
                <a:solidFill>
                  <a:srgbClr val="00548E"/>
                </a:solidFill>
                <a:latin typeface="Calibri"/>
                <a:cs typeface="Calibri"/>
              </a:rPr>
              <a:t>Améliorations</a:t>
            </a:r>
            <a:r>
              <a:rPr sz="4900" spc="835" dirty="0">
                <a:solidFill>
                  <a:srgbClr val="00548E"/>
                </a:solidFill>
                <a:latin typeface="Calibri"/>
                <a:cs typeface="Calibri"/>
              </a:rPr>
              <a:t> </a:t>
            </a:r>
            <a:r>
              <a:rPr sz="4900" spc="-10" dirty="0">
                <a:solidFill>
                  <a:srgbClr val="00528E"/>
                </a:solidFill>
                <a:latin typeface="Calibri"/>
                <a:cs typeface="Calibri"/>
              </a:rPr>
              <a:t>futures</a:t>
            </a:r>
            <a:endParaRPr sz="490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2875"/>
              </a:spcBef>
              <a:tabLst>
                <a:tab pos="645795" algn="l"/>
              </a:tabLst>
            </a:pPr>
            <a:r>
              <a:rPr sz="2700" dirty="0">
                <a:solidFill>
                  <a:srgbClr val="085D99"/>
                </a:solidFill>
                <a:latin typeface="Calibri"/>
                <a:cs typeface="Calibri"/>
              </a:rPr>
              <a:t>-{-	</a:t>
            </a:r>
            <a:r>
              <a:rPr sz="2700" spc="-50" dirty="0">
                <a:solidFill>
                  <a:srgbClr val="494949"/>
                </a:solidFill>
                <a:latin typeface="Calibri"/>
                <a:cs typeface="Calibri"/>
              </a:rPr>
              <a:t>Intégration</a:t>
            </a:r>
            <a:r>
              <a:rPr sz="2700" spc="-4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700" spc="-30" dirty="0">
                <a:solidFill>
                  <a:srgbClr val="4F4F4F"/>
                </a:solidFill>
                <a:latin typeface="Calibri"/>
                <a:cs typeface="Calibri"/>
              </a:rPr>
              <a:t>d'un</a:t>
            </a:r>
            <a:r>
              <a:rPr sz="2700" spc="-13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700" spc="-95" dirty="0">
                <a:solidFill>
                  <a:srgbClr val="4B4B4B"/>
                </a:solidFill>
                <a:latin typeface="Calibri"/>
                <a:cs typeface="Calibri"/>
              </a:rPr>
              <a:t>paiement</a:t>
            </a:r>
            <a:r>
              <a:rPr sz="2700" spc="-3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700" spc="-50" dirty="0">
                <a:solidFill>
                  <a:srgbClr val="4B4B4B"/>
                </a:solidFill>
                <a:latin typeface="Calibri"/>
                <a:cs typeface="Calibri"/>
              </a:rPr>
              <a:t>réel</a:t>
            </a:r>
            <a:r>
              <a:rPr sz="2700" spc="-5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464646"/>
                </a:solidFill>
                <a:latin typeface="Calibri"/>
                <a:cs typeface="Calibri"/>
              </a:rPr>
              <a:t>(Stripe/Paypal).</a:t>
            </a:r>
            <a:endParaRPr sz="270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3190"/>
              </a:spcBef>
              <a:tabLst>
                <a:tab pos="643890" algn="l"/>
              </a:tabLst>
            </a:pPr>
            <a:r>
              <a:rPr sz="2700" dirty="0">
                <a:solidFill>
                  <a:srgbClr val="0062A0"/>
                </a:solidFill>
                <a:latin typeface="Calibri"/>
                <a:cs typeface="Calibri"/>
              </a:rPr>
              <a:t>-{-	</a:t>
            </a:r>
            <a:r>
              <a:rPr sz="2700" spc="-35" dirty="0">
                <a:solidFill>
                  <a:srgbClr val="494949"/>
                </a:solidFill>
                <a:latin typeface="Calibri"/>
                <a:cs typeface="Calibri"/>
              </a:rPr>
              <a:t>Géolocalisation</a:t>
            </a:r>
            <a:r>
              <a:rPr sz="2700" spc="-20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4B4B4B"/>
                </a:solidFill>
                <a:latin typeface="Calibri"/>
                <a:cs typeface="Calibri"/>
              </a:rPr>
              <a:t>des</a:t>
            </a:r>
            <a:r>
              <a:rPr sz="2700" spc="-6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700" spc="-45" dirty="0">
                <a:solidFill>
                  <a:srgbClr val="4D4D4D"/>
                </a:solidFill>
                <a:latin typeface="Calibri"/>
                <a:cs typeface="Calibri"/>
              </a:rPr>
              <a:t>bus</a:t>
            </a:r>
            <a:r>
              <a:rPr sz="2700" spc="-9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700" spc="-50" dirty="0">
                <a:solidFill>
                  <a:srgbClr val="494949"/>
                </a:solidFill>
                <a:latin typeface="Calibri"/>
                <a:cs typeface="Calibri"/>
              </a:rPr>
              <a:t>en</a:t>
            </a:r>
            <a:r>
              <a:rPr sz="2700" spc="-1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700" spc="-90" dirty="0">
                <a:solidFill>
                  <a:srgbClr val="494949"/>
                </a:solidFill>
                <a:latin typeface="Calibri"/>
                <a:cs typeface="Calibri"/>
              </a:rPr>
              <a:t>temps</a:t>
            </a:r>
            <a:r>
              <a:rPr sz="270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464646"/>
                </a:solidFill>
                <a:latin typeface="Calibri"/>
                <a:cs typeface="Calibri"/>
              </a:rPr>
              <a:t>réel.</a:t>
            </a:r>
            <a:endParaRPr sz="270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3190"/>
              </a:spcBef>
              <a:tabLst>
                <a:tab pos="637540" algn="l"/>
              </a:tabLst>
            </a:pPr>
            <a:r>
              <a:rPr sz="2700" dirty="0">
                <a:solidFill>
                  <a:srgbClr val="085D99"/>
                </a:solidFill>
                <a:latin typeface="Calibri"/>
                <a:cs typeface="Calibri"/>
              </a:rPr>
              <a:t>-{-	</a:t>
            </a:r>
            <a:r>
              <a:rPr sz="2700" spc="-25" dirty="0">
                <a:solidFill>
                  <a:srgbClr val="4B4B4B"/>
                </a:solidFill>
                <a:latin typeface="Calibri"/>
                <a:cs typeface="Calibri"/>
              </a:rPr>
              <a:t>Application</a:t>
            </a:r>
            <a:r>
              <a:rPr sz="2700" spc="-4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700" spc="-85" dirty="0">
                <a:solidFill>
                  <a:srgbClr val="464646"/>
                </a:solidFill>
                <a:latin typeface="Calibri"/>
                <a:cs typeface="Calibri"/>
              </a:rPr>
              <a:t>mobile</a:t>
            </a:r>
            <a:r>
              <a:rPr sz="2700" spc="-8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464646"/>
                </a:solidFill>
                <a:latin typeface="Calibri"/>
                <a:cs typeface="Calibri"/>
              </a:rPr>
              <a:t>native.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7DC64F-3087-A579-EDAB-244A66CBCB5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8758" y="396875"/>
            <a:ext cx="4677210" cy="25665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32256" y="3170448"/>
            <a:ext cx="14027150" cy="1596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300" spc="85" dirty="0">
                <a:solidFill>
                  <a:srgbClr val="2A2A2A"/>
                </a:solidFill>
              </a:rPr>
              <a:t>Merci</a:t>
            </a:r>
            <a:r>
              <a:rPr sz="10300" spc="-625" dirty="0">
                <a:solidFill>
                  <a:srgbClr val="2A2A2A"/>
                </a:solidFill>
              </a:rPr>
              <a:t> </a:t>
            </a:r>
            <a:r>
              <a:rPr sz="10300" spc="100" dirty="0">
                <a:solidFill>
                  <a:srgbClr val="2A2A2A"/>
                </a:solidFill>
              </a:rPr>
              <a:t>de</a:t>
            </a:r>
            <a:r>
              <a:rPr sz="10300" spc="170" dirty="0">
                <a:solidFill>
                  <a:srgbClr val="2A2A2A"/>
                </a:solidFill>
              </a:rPr>
              <a:t> </a:t>
            </a:r>
            <a:r>
              <a:rPr sz="10300" spc="210" dirty="0">
                <a:solidFill>
                  <a:srgbClr val="2A2A2A"/>
                </a:solidFill>
              </a:rPr>
              <a:t>votre</a:t>
            </a:r>
            <a:r>
              <a:rPr sz="10300" spc="-540" dirty="0">
                <a:solidFill>
                  <a:srgbClr val="2A2A2A"/>
                </a:solidFill>
              </a:rPr>
              <a:t> </a:t>
            </a:r>
            <a:r>
              <a:rPr sz="10300" spc="170" dirty="0">
                <a:solidFill>
                  <a:srgbClr val="2A2A2A"/>
                </a:solidFill>
              </a:rPr>
              <a:t>ottention</a:t>
            </a:r>
            <a:r>
              <a:rPr sz="10300" spc="-45" dirty="0">
                <a:solidFill>
                  <a:srgbClr val="2A2A2A"/>
                </a:solidFill>
              </a:rPr>
              <a:t> </a:t>
            </a:r>
            <a:r>
              <a:rPr spc="30" dirty="0">
                <a:solidFill>
                  <a:srgbClr val="2A2A2A"/>
                </a:solidFill>
              </a:rPr>
              <a:t>!</a:t>
            </a:r>
            <a:endParaRPr sz="10300"/>
          </a:p>
        </p:txBody>
      </p:sp>
      <p:sp>
        <p:nvSpPr>
          <p:cNvPr id="3" name="object 3"/>
          <p:cNvSpPr txBox="1"/>
          <p:nvPr/>
        </p:nvSpPr>
        <p:spPr>
          <a:xfrm>
            <a:off x="7216143" y="5290803"/>
            <a:ext cx="5669280" cy="2444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424242"/>
                </a:solidFill>
                <a:latin typeface="Calibri"/>
                <a:cs typeface="Calibri"/>
              </a:rPr>
              <a:t>Avez-vous</a:t>
            </a:r>
            <a:r>
              <a:rPr sz="2550" spc="2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464646"/>
                </a:solidFill>
                <a:latin typeface="Calibri"/>
                <a:cs typeface="Calibri"/>
              </a:rPr>
              <a:t>des</a:t>
            </a:r>
            <a:r>
              <a:rPr sz="2550" spc="5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444444"/>
                </a:solidFill>
                <a:latin typeface="Calibri"/>
                <a:cs typeface="Calibri"/>
              </a:rPr>
              <a:t>questions</a:t>
            </a:r>
            <a:r>
              <a:rPr sz="2550" spc="10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550" spc="-50" dirty="0">
                <a:solidFill>
                  <a:srgbClr val="464646"/>
                </a:solidFill>
                <a:latin typeface="Calibri"/>
                <a:cs typeface="Calibri"/>
              </a:rPr>
              <a:t>?</a:t>
            </a:r>
            <a:endParaRPr sz="2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2550">
              <a:latin typeface="Calibri"/>
              <a:cs typeface="Calibri"/>
            </a:endParaRPr>
          </a:p>
          <a:p>
            <a:pPr marL="12065" marR="5080" algn="ctr">
              <a:lnSpc>
                <a:spcPct val="190000"/>
              </a:lnSpc>
            </a:pPr>
            <a:r>
              <a:rPr sz="2550" spc="50" dirty="0">
                <a:solidFill>
                  <a:srgbClr val="4D4D4D"/>
                </a:solidFill>
                <a:latin typeface="Calibri"/>
                <a:cs typeface="Calibri"/>
              </a:rPr>
              <a:t>Rhazi</a:t>
            </a:r>
            <a:r>
              <a:rPr sz="2550" spc="-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494949"/>
                </a:solidFill>
                <a:latin typeface="Calibri"/>
                <a:cs typeface="Calibri"/>
              </a:rPr>
              <a:t>Mohammed-Amine</a:t>
            </a:r>
            <a:r>
              <a:rPr sz="2550" spc="-26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550" spc="85" dirty="0">
                <a:solidFill>
                  <a:srgbClr val="414D60"/>
                </a:solidFill>
                <a:latin typeface="Calibri"/>
                <a:cs typeface="Calibri"/>
              </a:rPr>
              <a:t>&amp;</a:t>
            </a:r>
            <a:r>
              <a:rPr sz="2550" spc="-55" dirty="0">
                <a:solidFill>
                  <a:srgbClr val="414D60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494949"/>
                </a:solidFill>
                <a:latin typeface="Calibri"/>
                <a:cs typeface="Calibri"/>
              </a:rPr>
              <a:t>Semlali</a:t>
            </a:r>
            <a:r>
              <a:rPr sz="2550" spc="10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3B3B3B"/>
                </a:solidFill>
                <a:latin typeface="Calibri"/>
                <a:cs typeface="Calibri"/>
              </a:rPr>
              <a:t>Mehdi </a:t>
            </a:r>
            <a:r>
              <a:rPr sz="2550" spc="55" dirty="0">
                <a:solidFill>
                  <a:srgbClr val="4B4B4B"/>
                </a:solidFill>
                <a:latin typeface="Calibri"/>
                <a:cs typeface="Calibri"/>
              </a:rPr>
              <a:t>Encadré</a:t>
            </a:r>
            <a:r>
              <a:rPr sz="2550" spc="-6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484848"/>
                </a:solidFill>
                <a:latin typeface="Calibri"/>
                <a:cs typeface="Calibri"/>
              </a:rPr>
              <a:t>par</a:t>
            </a:r>
            <a:r>
              <a:rPr sz="2550" spc="-1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445662"/>
                </a:solidFill>
                <a:latin typeface="Calibri"/>
                <a:cs typeface="Calibri"/>
              </a:rPr>
              <a:t>Mme</a:t>
            </a:r>
            <a:r>
              <a:rPr sz="2550" spc="-120" dirty="0">
                <a:solidFill>
                  <a:srgbClr val="445662"/>
                </a:solidFill>
                <a:latin typeface="Calibri"/>
                <a:cs typeface="Calibri"/>
              </a:rPr>
              <a:t> </a:t>
            </a:r>
            <a:r>
              <a:rPr sz="2550" spc="50" dirty="0">
                <a:solidFill>
                  <a:srgbClr val="4B4B4B"/>
                </a:solidFill>
                <a:latin typeface="Calibri"/>
                <a:cs typeface="Calibri"/>
              </a:rPr>
              <a:t>Asmae</a:t>
            </a:r>
            <a:r>
              <a:rPr sz="2550" spc="-11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494949"/>
                </a:solidFill>
                <a:latin typeface="Calibri"/>
                <a:cs typeface="Calibri"/>
              </a:rPr>
              <a:t>Youala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487</Words>
  <Application>Microsoft Office PowerPoint</Application>
  <PresentationFormat>Custom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 MT</vt:lpstr>
      <vt:lpstr>Calibri</vt:lpstr>
      <vt:lpstr>Office Theme</vt:lpstr>
      <vt:lpstr>Issal Fes Application Web de Transport Urbain et ses infos</vt:lpstr>
      <vt:lpstr>Sommaire de lo Présentation</vt:lpstr>
      <vt:lpstr>Introduction &amp; Objectifs</vt:lpstr>
      <vt:lpstr>Lo Problématique</vt:lpstr>
      <vt:lpstr>Fonctionnalités Principales</vt:lpstr>
      <vt:lpstr>Cas d'Utilisotion</vt:lpstr>
      <vt:lpstr>PowerPoint Presentation</vt:lpstr>
      <vt:lpstr>Architecture des Données</vt:lpstr>
      <vt:lpstr>Choix Technologiques</vt:lpstr>
      <vt:lpstr>PowerPoint Presentation</vt:lpstr>
      <vt:lpstr>Difficultés &amp; Solutions</vt:lpstr>
      <vt:lpstr>Bilan du Projet</vt:lpstr>
      <vt:lpstr>Merci de votre ottention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Med-Amine</cp:lastModifiedBy>
  <cp:revision>1</cp:revision>
  <dcterms:created xsi:type="dcterms:W3CDTF">2026-06-09T23:06:08Z</dcterms:created>
  <dcterms:modified xsi:type="dcterms:W3CDTF">2026-06-09T23:21:26Z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2026-06-09T00:00:00Z</vt:filetime>
  </property>
  <property fmtid="{D5CDD505-2E9C-101B-9397-08002B2CF9AE}" pid="4" name="LastSaved">
    <vt:filetime>2026-06-09T00:00:00Z</vt:filetime>
  </property>
</Properties>
</file>